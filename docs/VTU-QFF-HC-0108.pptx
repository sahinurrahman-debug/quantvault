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7" d="100"/>
          <a:sy n="87" d="100"/>
        </p:scale>
        <p:origin x="680" y="1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100" b="1">
                <a:solidFill>
                  <a:srgbClr val="2E1B5B"/>
                </a:solidFill>
                <a:latin typeface="Calibri"/>
              </a:rPr>
              <a:t>Error rate (QBER %) vs channel noise p</a:t>
            </a:r>
          </a:p>
        </c:rich>
      </c:tx>
      <c:overlay val="0"/>
    </c:title>
    <c:autoTitleDeleted val="0"/>
    <c:plotArea>
      <c:layout/>
      <c:lineChart>
        <c:grouping val="standard"/>
        <c:varyColors val="0"/>
        <c:ser>
          <c:idx val="0"/>
          <c:order val="0"/>
          <c:tx>
            <c:strRef>
              <c:f>Sheet1!$B$1</c:f>
              <c:strCache>
                <c:ptCount val="1"/>
                <c:pt idx="0">
                  <c:v>Eve intercepts</c:v>
                </c:pt>
              </c:strCache>
            </c:strRef>
          </c:tx>
          <c:spPr>
            <a:ln w="28575">
              <a:solidFill>
                <a:srgbClr val="E8639F"/>
              </a:solidFill>
            </a:ln>
          </c:spPr>
          <c:marker>
            <c:symbol val="diamond"/>
            <c:size val="6"/>
            <c:spPr>
              <a:solidFill>
                <a:srgbClr val="E8639F"/>
              </a:solidFill>
              <a:ln>
                <a:solidFill>
                  <a:srgbClr val="E8639F"/>
                </a:solidFill>
              </a:ln>
            </c:spPr>
          </c:marker>
          <c:cat>
            <c:strRef>
              <c:f>Sheet1!$A$2:$A$7</c:f>
              <c:strCache>
                <c:ptCount val="6"/>
                <c:pt idx="0">
                  <c:v>0</c:v>
                </c:pt>
                <c:pt idx="1">
                  <c:v>0.01</c:v>
                </c:pt>
                <c:pt idx="2">
                  <c:v>0.03</c:v>
                </c:pt>
                <c:pt idx="3">
                  <c:v>0.05</c:v>
                </c:pt>
                <c:pt idx="4">
                  <c:v>0.10</c:v>
                </c:pt>
                <c:pt idx="5">
                  <c:v>0.15</c:v>
                </c:pt>
              </c:strCache>
            </c:strRef>
          </c:cat>
          <c:val>
            <c:numRef>
              <c:f>Sheet1!$B$2:$B$7</c:f>
              <c:numCache>
                <c:formatCode>General</c:formatCode>
                <c:ptCount val="6"/>
                <c:pt idx="0">
                  <c:v>25.13</c:v>
                </c:pt>
                <c:pt idx="1">
                  <c:v>25.1</c:v>
                </c:pt>
                <c:pt idx="2">
                  <c:v>25.75</c:v>
                </c:pt>
                <c:pt idx="3">
                  <c:v>26.47</c:v>
                </c:pt>
                <c:pt idx="4">
                  <c:v>26.93</c:v>
                </c:pt>
                <c:pt idx="5">
                  <c:v>29.89</c:v>
                </c:pt>
              </c:numCache>
            </c:numRef>
          </c:val>
          <c:smooth val="0"/>
          <c:extLst>
            <c:ext xmlns:c16="http://schemas.microsoft.com/office/drawing/2014/chart" uri="{C3380CC4-5D6E-409C-BE32-E72D297353CC}">
              <c16:uniqueId val="{00000000-97E2-4B64-95CE-F25C204FF669}"/>
            </c:ext>
          </c:extLst>
        </c:ser>
        <c:ser>
          <c:idx val="1"/>
          <c:order val="1"/>
          <c:tx>
            <c:strRef>
              <c:f>Sheet1!$C$1</c:f>
              <c:strCache>
                <c:ptCount val="1"/>
                <c:pt idx="0">
                  <c:v>No Eve</c:v>
                </c:pt>
              </c:strCache>
            </c:strRef>
          </c:tx>
          <c:spPr>
            <a:ln w="28575">
              <a:solidFill>
                <a:srgbClr val="5B3BA8"/>
              </a:solidFill>
            </a:ln>
          </c:spPr>
          <c:marker>
            <c:symbol val="square"/>
            <c:size val="6"/>
            <c:spPr>
              <a:solidFill>
                <a:srgbClr val="5B3BA8"/>
              </a:solidFill>
              <a:ln>
                <a:solidFill>
                  <a:srgbClr val="5B3BA8"/>
                </a:solidFill>
              </a:ln>
            </c:spPr>
          </c:marker>
          <c:cat>
            <c:strRef>
              <c:f>Sheet1!$A$2:$A$7</c:f>
              <c:strCache>
                <c:ptCount val="6"/>
                <c:pt idx="0">
                  <c:v>0</c:v>
                </c:pt>
                <c:pt idx="1">
                  <c:v>0.01</c:v>
                </c:pt>
                <c:pt idx="2">
                  <c:v>0.03</c:v>
                </c:pt>
                <c:pt idx="3">
                  <c:v>0.05</c:v>
                </c:pt>
                <c:pt idx="4">
                  <c:v>0.10</c:v>
                </c:pt>
                <c:pt idx="5">
                  <c:v>0.15</c:v>
                </c:pt>
              </c:strCache>
            </c:strRef>
          </c:cat>
          <c:val>
            <c:numRef>
              <c:f>Sheet1!$C$2:$C$7</c:f>
              <c:numCache>
                <c:formatCode>General</c:formatCode>
                <c:ptCount val="6"/>
                <c:pt idx="0">
                  <c:v>0</c:v>
                </c:pt>
                <c:pt idx="1">
                  <c:v>0.52</c:v>
                </c:pt>
                <c:pt idx="2">
                  <c:v>1.68</c:v>
                </c:pt>
                <c:pt idx="3">
                  <c:v>2.42</c:v>
                </c:pt>
                <c:pt idx="4">
                  <c:v>4.9800000000000004</c:v>
                </c:pt>
                <c:pt idx="5">
                  <c:v>7</c:v>
                </c:pt>
              </c:numCache>
            </c:numRef>
          </c:val>
          <c:smooth val="0"/>
          <c:extLst>
            <c:ext xmlns:c16="http://schemas.microsoft.com/office/drawing/2014/chart" uri="{C3380CC4-5D6E-409C-BE32-E72D297353CC}">
              <c16:uniqueId val="{00000001-97E2-4B64-95CE-F25C204FF669}"/>
            </c:ext>
          </c:extLst>
        </c:ser>
        <c:ser>
          <c:idx val="2"/>
          <c:order val="2"/>
          <c:tx>
            <c:strRef>
              <c:f>Sheet1!$D$1</c:f>
              <c:strCache>
                <c:ptCount val="1"/>
                <c:pt idx="0">
                  <c:v>Abort line (11%)</c:v>
                </c:pt>
              </c:strCache>
            </c:strRef>
          </c:tx>
          <c:spPr>
            <a:ln w="19050">
              <a:solidFill>
                <a:srgbClr val="6F7399"/>
              </a:solidFill>
              <a:prstDash val="dash"/>
            </a:ln>
          </c:spPr>
          <c:marker>
            <c:symbol val="none"/>
          </c:marker>
          <c:cat>
            <c:strRef>
              <c:f>Sheet1!$A$2:$A$7</c:f>
              <c:strCache>
                <c:ptCount val="6"/>
                <c:pt idx="0">
                  <c:v>0</c:v>
                </c:pt>
                <c:pt idx="1">
                  <c:v>0.01</c:v>
                </c:pt>
                <c:pt idx="2">
                  <c:v>0.03</c:v>
                </c:pt>
                <c:pt idx="3">
                  <c:v>0.05</c:v>
                </c:pt>
                <c:pt idx="4">
                  <c:v>0.10</c:v>
                </c:pt>
                <c:pt idx="5">
                  <c:v>0.15</c:v>
                </c:pt>
              </c:strCache>
            </c:strRef>
          </c:cat>
          <c:val>
            <c:numRef>
              <c:f>Sheet1!$D$2:$D$7</c:f>
              <c:numCache>
                <c:formatCode>General</c:formatCode>
                <c:ptCount val="6"/>
                <c:pt idx="0">
                  <c:v>11</c:v>
                </c:pt>
                <c:pt idx="1">
                  <c:v>11</c:v>
                </c:pt>
                <c:pt idx="2">
                  <c:v>11</c:v>
                </c:pt>
                <c:pt idx="3">
                  <c:v>11</c:v>
                </c:pt>
                <c:pt idx="4">
                  <c:v>11</c:v>
                </c:pt>
                <c:pt idx="5">
                  <c:v>11</c:v>
                </c:pt>
              </c:numCache>
            </c:numRef>
          </c:val>
          <c:smooth val="0"/>
          <c:extLst>
            <c:ext xmlns:c16="http://schemas.microsoft.com/office/drawing/2014/chart" uri="{C3380CC4-5D6E-409C-BE32-E72D297353CC}">
              <c16:uniqueId val="{00000002-97E2-4B64-95CE-F25C204FF66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8BDEB"/>
            </a:solidFill>
          </a:ln>
        </c:spPr>
        <c:txPr>
          <a:bodyPr/>
          <a:lstStyle/>
          <a:p>
            <a:pPr>
              <a:defRPr sz="900"/>
            </a:pPr>
            <a:endParaRPr lang="en-US"/>
          </a:p>
        </c:txPr>
        <c:crossAx val="2140495176"/>
        <c:crosses val="autoZero"/>
        <c:auto val="1"/>
        <c:lblAlgn val="ctr"/>
        <c:lblOffset val="100"/>
        <c:noMultiLvlLbl val="0"/>
      </c:catAx>
      <c:valAx>
        <c:axId val="2140495176"/>
        <c:scaling>
          <c:orientation val="minMax"/>
          <c:max val="32"/>
          <c:min val="0"/>
        </c:scaling>
        <c:delete val="0"/>
        <c:axPos val="l"/>
        <c:majorGridlines>
          <c:spPr>
            <a:ln>
              <a:solidFill>
                <a:srgbClr val="E3E5F7"/>
              </a:solidFill>
            </a:ln>
          </c:spPr>
        </c:majorGridlines>
        <c:numFmt formatCode="General" sourceLinked="1"/>
        <c:majorTickMark val="out"/>
        <c:minorTickMark val="none"/>
        <c:tickLblPos val="nextTo"/>
        <c:spPr>
          <a:ln>
            <a:noFill/>
          </a:ln>
        </c:spPr>
        <c:txPr>
          <a:bodyPr/>
          <a:lstStyle/>
          <a:p>
            <a:pPr>
              <a:defRPr sz="900"/>
            </a:pPr>
            <a:endParaRPr lang="en-US"/>
          </a:p>
        </c:txPr>
        <c:crossAx val="2118791784"/>
        <c:crosses val="autoZero"/>
        <c:crossBetween val="between"/>
        <c:majorUnit val="8"/>
      </c:valAx>
    </c:plotArea>
    <c:legend>
      <c:legendPos val="b"/>
      <c:overlay val="0"/>
      <c:txPr>
        <a:bodyPr/>
        <a:lstStyle/>
        <a:p>
          <a:pPr>
            <a:defRPr sz="900"/>
          </a:pPr>
          <a:endParaRPr lang="en-US"/>
        </a:p>
      </c:txPr>
    </c:legend>
    <c:plotVisOnly val="1"/>
    <c:dispBlanksAs val="gap"/>
    <c:showDLblsOverMax val="0"/>
  </c:chart>
  <c:txPr>
    <a:bodyPr/>
    <a:lstStyle/>
    <a:p>
      <a:pPr>
        <a:defRPr sz="900">
          <a:solidFill>
            <a:srgbClr val="6F739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100" b="1">
                <a:solidFill>
                  <a:srgbClr val="2E1B5B"/>
                </a:solidFill>
                <a:latin typeface="Calibri"/>
              </a:rPr>
              <a:t>Who moves first? Risk score at Z = 15</a:t>
            </a:r>
          </a:p>
        </c:rich>
      </c:tx>
      <c:overlay val="0"/>
    </c:title>
    <c:autoTitleDeleted val="0"/>
    <c:plotArea>
      <c:layout/>
      <c:barChart>
        <c:barDir val="bar"/>
        <c:grouping val="clustered"/>
        <c:varyColors val="1"/>
        <c:ser>
          <c:idx val="0"/>
          <c:order val="0"/>
          <c:tx>
            <c:strRef>
              <c:f>Sheet1!$B$1</c:f>
              <c:strCache>
                <c:ptCount val="1"/>
                <c:pt idx="0">
                  <c:v>Risk score R</c:v>
                </c:pt>
              </c:strCache>
            </c:strRef>
          </c:tx>
          <c:invertIfNegative val="1"/>
          <c:dPt>
            <c:idx val="0"/>
            <c:invertIfNegative val="1"/>
            <c:bubble3D val="0"/>
            <c:spPr>
              <a:solidFill>
                <a:srgbClr val="7C93F0"/>
              </a:solidFill>
            </c:spPr>
            <c:extLst>
              <c:ext xmlns:c16="http://schemas.microsoft.com/office/drawing/2014/chart" uri="{C3380CC4-5D6E-409C-BE32-E72D297353CC}">
                <c16:uniqueId val="{00000001-3B16-46FF-BA64-9049631E7872}"/>
              </c:ext>
            </c:extLst>
          </c:dPt>
          <c:dPt>
            <c:idx val="1"/>
            <c:invertIfNegative val="1"/>
            <c:bubble3D val="0"/>
            <c:spPr>
              <a:solidFill>
                <a:srgbClr val="5B3BA8"/>
              </a:solidFill>
            </c:spPr>
            <c:extLst>
              <c:ext xmlns:c16="http://schemas.microsoft.com/office/drawing/2014/chart" uri="{C3380CC4-5D6E-409C-BE32-E72D297353CC}">
                <c16:uniqueId val="{00000003-3B16-46FF-BA64-9049631E7872}"/>
              </c:ext>
            </c:extLst>
          </c:dPt>
          <c:dPt>
            <c:idx val="2"/>
            <c:invertIfNegative val="1"/>
            <c:bubble3D val="0"/>
            <c:spPr>
              <a:solidFill>
                <a:srgbClr val="5B3BA8"/>
              </a:solidFill>
            </c:spPr>
            <c:extLst>
              <c:ext xmlns:c16="http://schemas.microsoft.com/office/drawing/2014/chart" uri="{C3380CC4-5D6E-409C-BE32-E72D297353CC}">
                <c16:uniqueId val="{00000005-3B16-46FF-BA64-9049631E7872}"/>
              </c:ext>
            </c:extLst>
          </c:dPt>
          <c:dPt>
            <c:idx val="3"/>
            <c:invertIfNegative val="1"/>
            <c:bubble3D val="0"/>
            <c:spPr>
              <a:solidFill>
                <a:srgbClr val="5B3BA8"/>
              </a:solidFill>
            </c:spPr>
            <c:extLst>
              <c:ext xmlns:c16="http://schemas.microsoft.com/office/drawing/2014/chart" uri="{C3380CC4-5D6E-409C-BE32-E72D297353CC}">
                <c16:uniqueId val="{00000007-3B16-46FF-BA64-9049631E7872}"/>
              </c:ext>
            </c:extLst>
          </c:dPt>
          <c:dPt>
            <c:idx val="4"/>
            <c:invertIfNegative val="1"/>
            <c:bubble3D val="0"/>
            <c:spPr>
              <a:solidFill>
                <a:srgbClr val="5B3BA8"/>
              </a:solidFill>
            </c:spPr>
            <c:extLst>
              <c:ext xmlns:c16="http://schemas.microsoft.com/office/drawing/2014/chart" uri="{C3380CC4-5D6E-409C-BE32-E72D297353CC}">
                <c16:uniqueId val="{00000009-3B16-46FF-BA64-9049631E7872}"/>
              </c:ext>
            </c:extLst>
          </c:dPt>
          <c:dPt>
            <c:idx val="5"/>
            <c:invertIfNegative val="1"/>
            <c:bubble3D val="0"/>
            <c:spPr>
              <a:solidFill>
                <a:srgbClr val="5B3BA8"/>
              </a:solidFill>
            </c:spPr>
            <c:extLst>
              <c:ext xmlns:c16="http://schemas.microsoft.com/office/drawing/2014/chart" uri="{C3380CC4-5D6E-409C-BE32-E72D297353CC}">
                <c16:uniqueId val="{0000000B-3B16-46FF-BA64-9049631E7872}"/>
              </c:ext>
            </c:extLst>
          </c:dPt>
          <c:dPt>
            <c:idx val="6"/>
            <c:invertIfNegative val="1"/>
            <c:bubble3D val="0"/>
            <c:spPr>
              <a:solidFill>
                <a:srgbClr val="5B3BA8"/>
              </a:solidFill>
            </c:spPr>
            <c:extLst>
              <c:ext xmlns:c16="http://schemas.microsoft.com/office/drawing/2014/chart" uri="{C3380CC4-5D6E-409C-BE32-E72D297353CC}">
                <c16:uniqueId val="{0000000D-3B16-46FF-BA64-9049631E7872}"/>
              </c:ext>
            </c:extLst>
          </c:dPt>
          <c:dPt>
            <c:idx val="7"/>
            <c:invertIfNegative val="1"/>
            <c:bubble3D val="0"/>
            <c:spPr>
              <a:solidFill>
                <a:srgbClr val="5B3BA8"/>
              </a:solidFill>
            </c:spPr>
            <c:extLst>
              <c:ext xmlns:c16="http://schemas.microsoft.com/office/drawing/2014/chart" uri="{C3380CC4-5D6E-409C-BE32-E72D297353CC}">
                <c16:uniqueId val="{0000000F-3B16-46FF-BA64-9049631E7872}"/>
              </c:ext>
            </c:extLst>
          </c:dPt>
          <c:dPt>
            <c:idx val="8"/>
            <c:invertIfNegative val="1"/>
            <c:bubble3D val="0"/>
            <c:spPr>
              <a:solidFill>
                <a:srgbClr val="E8639F"/>
              </a:solidFill>
            </c:spPr>
            <c:extLst>
              <c:ext xmlns:c16="http://schemas.microsoft.com/office/drawing/2014/chart" uri="{C3380CC4-5D6E-409C-BE32-E72D297353CC}">
                <c16:uniqueId val="{00000011-3B16-46FF-BA64-9049631E7872}"/>
              </c:ext>
            </c:extLst>
          </c:dPt>
          <c:dLbls>
            <c:numFmt formatCode="0.0" sourceLinked="0"/>
            <c:spPr>
              <a:noFill/>
              <a:ln>
                <a:noFill/>
              </a:ln>
              <a:effectLst/>
            </c:spPr>
            <c:txPr>
              <a:bodyPr/>
              <a:lstStyle/>
              <a:p>
                <a:pPr>
                  <a:defRPr sz="900" b="1">
                    <a:solidFill>
                      <a:srgbClr val="2E1B5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Staff VPN</c:v>
                </c:pt>
                <c:pt idx="1">
                  <c:v>Billing API</c:v>
                </c:pt>
                <c:pt idx="2">
                  <c:v>Pathology fibre link</c:v>
                </c:pt>
                <c:pt idx="3">
                  <c:v>Research archive</c:v>
                </c:pt>
                <c:pt idx="4">
                  <c:v>S/MIME e-mail</c:v>
                </c:pt>
                <c:pt idx="5">
                  <c:v>Device network</c:v>
                </c:pt>
                <c:pt idx="6">
                  <c:v>Radiology archive</c:v>
                </c:pt>
                <c:pt idx="7">
                  <c:v>Infusion-pump firmware</c:v>
                </c:pt>
                <c:pt idx="8">
                  <c:v>Health records (EHR)</c:v>
                </c:pt>
              </c:strCache>
            </c:strRef>
          </c:cat>
          <c:val>
            <c:numRef>
              <c:f>Sheet1!$B$2:$B$10</c:f>
              <c:numCache>
                <c:formatCode>General</c:formatCode>
                <c:ptCount val="9"/>
                <c:pt idx="0">
                  <c:v>61.9</c:v>
                </c:pt>
                <c:pt idx="1">
                  <c:v>65</c:v>
                </c:pt>
                <c:pt idx="2">
                  <c:v>65.400000000000006</c:v>
                </c:pt>
                <c:pt idx="3">
                  <c:v>65.7</c:v>
                </c:pt>
                <c:pt idx="4">
                  <c:v>66.099999999999994</c:v>
                </c:pt>
                <c:pt idx="5">
                  <c:v>68.8</c:v>
                </c:pt>
                <c:pt idx="6">
                  <c:v>72</c:v>
                </c:pt>
                <c:pt idx="7">
                  <c:v>72.599999999999994</c:v>
                </c:pt>
                <c:pt idx="8">
                  <c:v>80.400000000000006</c:v>
                </c:pt>
              </c:numCache>
            </c:numRef>
          </c:val>
          <c:extLst>
            <c:ext xmlns:c16="http://schemas.microsoft.com/office/drawing/2014/chart" uri="{C3380CC4-5D6E-409C-BE32-E72D297353CC}">
              <c16:uniqueId val="{00000012-3B16-46FF-BA64-9049631E7872}"/>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B8BDEB"/>
            </a:solidFill>
          </a:ln>
        </c:spPr>
        <c:txPr>
          <a:bodyPr/>
          <a:lstStyle/>
          <a:p>
            <a:pPr>
              <a:defRPr sz="900"/>
            </a:pPr>
            <a:endParaRPr lang="en-US"/>
          </a:p>
        </c:txPr>
        <c:crossAx val="-2113994440"/>
        <c:crosses val="autoZero"/>
        <c:auto val="1"/>
        <c:lblAlgn val="ctr"/>
        <c:lblOffset val="100"/>
        <c:noMultiLvlLbl val="0"/>
      </c:catAx>
      <c:valAx>
        <c:axId val="-2113994440"/>
        <c:scaling>
          <c:orientation val="minMax"/>
          <c:max val="95"/>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6F7399"/>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dirty="0"/>
              <a:t>Hi, we're </a:t>
            </a:r>
            <a:r>
              <a:rPr dirty="0" err="1"/>
              <a:t>HackersLobby</a:t>
            </a:r>
            <a:r>
              <a:rPr dirty="0"/>
              <a:t>. </a:t>
            </a:r>
            <a:r>
              <a:rPr dirty="0" err="1"/>
              <a:t>QuantVault</a:t>
            </a:r>
            <a:r>
              <a:rPr dirty="0"/>
              <a:t> started from one simple question: if a quantum computer shows up in fifteen years, which of today's systems are already in trouble? We'll show you how we answer that, and where quantum security actually helps, without overselling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Here's the uncomfortable part. Someone can record encrypted hospital traffic today and simply wait. When a capable quantum computer exists, RSA and elliptic-curve keys fall, and that old traffic opens up. Health records need to stay private for decades, so the deadline isn't the day the quantum computer arrives; it's much earlier. And most organisations can't even list where RSA lives. In our sample hospital, 11 of 13 systems are exposed and two run cryptography nobody has documented.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Our whole approach rests on Mosca's inequality. If the years your data must stay secret plus the years it takes you to migrate exceed the years until a quantum threat, you're already late. For the health-record system that's 25 plus 5 against 15: fifteen years behind. We set ourselves four jobs: map, rank, show, plan. And three honesty rules: unknown never means safe, forward secrecy isn't quantum safety, and the threat date is your assumption to move, not ours to predict.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QuantVault works in three layers: discover what you have, decide what moves first, and demonstrate why quantum key distribution is interesting. The quantum part is real: in BB84, measuring a photon disturbs it, so a spy pushes the error rate from zero to about 25 percent and gets caught. But we're honest about the limits: in our hospital only one link, a dedicated fibre between data centres, is a QKD candidate. Everything else should move to post-quantum cryptography first.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This is the actual circuit from our code, not a textbook drawing. Alice encodes a bit with X and H gates, Eve optionally measures and resends, the channel can add noise, and Bob measures in his own random basis. On the right is what happens to an ideal 2,048-qubit run: half survive sifting, we spend a sample checking errors, and after reconciliation and privacy amplification 443 secret bits remain. If the error rate's upper bound crosses 11 percent, we refuse to produce a key at all.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Under the hood it's a MERN app in front of Python. React draws the dashboard, Express handles accounts and rate limits, and every score and every BB84 run comes from the same Python code, so the dashboard and the command line can never tell different stories. It ships as one Docker image on Render, with 14 test files running in CI. Judges can log in with the demo account in about ten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Here's the evidence. Without Eve, errors grow gently with noise. With Eve, they jump to about 25 percent immediately and never come back down, well above our 11 percent abort line. On the right are three single runs from the live dashboard: a clean channel gives a 443-bit key, Eve on every qubit gets the run aborted, and moderate noise still yields a shorter 170-bit key. One honest caveat: these are three repetitions per setting, so a few points are noisy.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This is what a hospital security lead walks into the board meeting with: a ranked list, not a vague worry. Health records come first at 80.4, then the firmware that signs infusion pumps. A nurse never sees this dashboard, but she relies on that pump's signature being trustworthy for fifteen years. The same logic applies to banks, government archives and any device maker whose firmware has to be trusted for years.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We want to be upfront about what this isn't. Nobody knows when a capable quantum computer arrives, so we made that a slider instead of pretending. Our score weights are expert defaults you can change. The BB84 lab is a simulation, and it says so. Next, we'd like the inventory to fill itself by scanning certificates, run BB84 on real IBM hardware through Qiskit Runtime, add finite-key analysis, and accept standard crypto bills of materials so teams don't retype what they already have.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t>Thank you. If you'd like to try it, the demo account is on the sign-in page and the code is on GitHub. We'd love your questions, especially the hard ones about where QKD really fits.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txBody>
          <a:bodyPr/>
          <a:lstStyle/>
          <a:p>
            <a:endParaRPr lang="en-IN"/>
          </a:p>
        </p:txBody>
      </p:sp>
      <p:sp>
        <p:nvSpPr>
          <p:cNvPr id="3" name="Shape 1"/>
          <p:cNvSpPr/>
          <p:nvPr/>
        </p:nvSpPr>
        <p:spPr>
          <a:xfrm>
            <a:off x="0" y="658368"/>
            <a:ext cx="3054096" cy="45720"/>
          </a:xfrm>
          <a:prstGeom prst="rect">
            <a:avLst/>
          </a:prstGeom>
          <a:solidFill>
            <a:srgbClr val="7C93F0"/>
          </a:solidFill>
          <a:ln w="12700">
            <a:solidFill>
              <a:srgbClr val="7C93F0"/>
            </a:solidFill>
            <a:prstDash val="solid"/>
          </a:ln>
        </p:spPr>
        <p:txBody>
          <a:bodyPr/>
          <a:lstStyle/>
          <a:p>
            <a:endParaRPr lang="en-IN"/>
          </a:p>
        </p:txBody>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txBody>
          <a:bodyPr/>
          <a:lstStyle/>
          <a:p>
            <a:endParaRPr lang="en-IN"/>
          </a:p>
        </p:txBody>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txBody>
          <a:bodyPr/>
          <a:lstStyle/>
          <a:p>
            <a:endParaRPr lang="en-IN"/>
          </a:p>
        </p:txBody>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txBody>
          <a:bodyPr/>
          <a:lstStyle/>
          <a:p>
            <a:endParaRPr lang="en-IN"/>
          </a:p>
        </p:txBody>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txBody>
          <a:bodyPr/>
          <a:lstStyle/>
          <a:p>
            <a:endParaRPr lang="en-IN"/>
          </a:p>
        </p:txBody>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txBody>
          <a:bodyPr/>
          <a:lstStyle/>
          <a:p>
            <a:endParaRPr lang="en-IN"/>
          </a:p>
        </p:txBody>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txBody>
          <a:bodyPr/>
          <a:lstStyle/>
          <a:p>
            <a:endParaRPr lang="en-IN"/>
          </a:p>
        </p:txBody>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txBody>
          <a:bodyPr/>
          <a:lstStyle/>
          <a:p>
            <a:endParaRPr lang="en-IN"/>
          </a:p>
        </p:txBody>
      </p:sp>
      <p:sp>
        <p:nvSpPr>
          <p:cNvPr id="3" name="Shape 1"/>
          <p:cNvSpPr/>
          <p:nvPr/>
        </p:nvSpPr>
        <p:spPr>
          <a:xfrm>
            <a:off x="0" y="658368"/>
            <a:ext cx="3054096" cy="45720"/>
          </a:xfrm>
          <a:prstGeom prst="rect">
            <a:avLst/>
          </a:prstGeom>
          <a:solidFill>
            <a:srgbClr val="7C93F0"/>
          </a:solidFill>
          <a:ln w="12700">
            <a:solidFill>
              <a:srgbClr val="7C93F0"/>
            </a:solidFill>
            <a:prstDash val="solid"/>
          </a:ln>
        </p:spPr>
        <p:txBody>
          <a:bodyPr/>
          <a:lstStyle/>
          <a:p>
            <a:endParaRPr lang="en-IN"/>
          </a:p>
        </p:txBody>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txBody>
          <a:bodyPr/>
          <a:lstStyle/>
          <a:p>
            <a:endParaRPr lang="en-IN"/>
          </a:p>
        </p:txBody>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txBody>
          <a:bodyPr/>
          <a:lstStyle/>
          <a:p>
            <a:endParaRPr lang="en-IN"/>
          </a:p>
        </p:txBody>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txBody>
          <a:bodyPr/>
          <a:lstStyle/>
          <a:p>
            <a:endParaRPr lang="en-IN"/>
          </a:p>
        </p:txBody>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txBody>
          <a:bodyPr/>
          <a:lstStyle/>
          <a:p>
            <a:endParaRPr lang="en-IN"/>
          </a:p>
        </p:txBody>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txBody>
          <a:bodyPr/>
          <a:lstStyle/>
          <a:p>
            <a:endParaRPr lang="en-IN"/>
          </a:p>
        </p:txBody>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txBody>
          <a:bodyPr/>
          <a:lstStyle/>
          <a:p>
            <a:endParaRPr lang="en-IN"/>
          </a:p>
        </p:txBody>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chart" Target="../charts/chart2.xml"/><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5.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github.com/vtu-qiskit-fall-fest-2026/vtu-hc-hackerslobby" TargetMode="External"/><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quantvault-n8cp.onrender.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Details</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4023360" y="1261872"/>
            <a:ext cx="466344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a:p>
            <a:pPr marL="0" indent="0" algn="l">
              <a:buNone/>
            </a:pPr>
            <a:r>
              <a:rPr lang="en-US" sz="1100" i="0" dirty="0">
                <a:solidFill>
                  <a:srgbClr val="2E1B5B"/>
                </a:solidFill>
                <a:latin typeface="Calibri" pitchFamily="34" charset="0"/>
                <a:ea typeface="Calibri" pitchFamily="34" charset="-122"/>
                <a:cs typeface="Calibri" pitchFamily="34" charset="-120"/>
              </a:rPr>
              <a:t>QuantVault: Quantum-Aware Cryptographic Risk &amp; Migration Framework</a:t>
            </a:r>
            <a:endParaRPr lang="en-US" sz="1100" dirty="0"/>
          </a:p>
        </p:txBody>
      </p:sp>
      <p:sp>
        <p:nvSpPr>
          <p:cNvPr id="11" name="Field: TRACK"/>
          <p:cNvSpPr/>
          <p:nvPr/>
        </p:nvSpPr>
        <p:spPr>
          <a:xfrm>
            <a:off x="402336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TRACK</a:t>
            </a:r>
            <a:endParaRPr lang="en-US" sz="900" dirty="0"/>
          </a:p>
          <a:p>
            <a:pPr marL="0" indent="0" algn="l">
              <a:buNone/>
            </a:pPr>
            <a:r>
              <a:rPr lang="en-US" sz="1100" i="0" dirty="0">
                <a:solidFill>
                  <a:srgbClr val="2E1B5B"/>
                </a:solidFill>
                <a:latin typeface="Calibri" pitchFamily="34" charset="0"/>
                <a:ea typeface="Calibri" pitchFamily="34" charset="-122"/>
                <a:cs typeface="Calibri" pitchFamily="34" charset="-120"/>
              </a:rPr>
              <a:t>Track 1 · Quantum Crypto &amp; Security</a:t>
            </a:r>
            <a:endParaRPr lang="en-US" sz="1100" dirty="0"/>
          </a:p>
        </p:txBody>
      </p:sp>
      <p:sp>
        <p:nvSpPr>
          <p:cNvPr id="12" name="Field: TEAM NAME"/>
          <p:cNvSpPr/>
          <p:nvPr/>
        </p:nvSpPr>
        <p:spPr>
          <a:xfrm>
            <a:off x="640080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endParaRPr lang="en-US" sz="900" dirty="0"/>
          </a:p>
          <a:p>
            <a:pPr marL="0" indent="0" algn="l">
              <a:buNone/>
            </a:pPr>
            <a:r>
              <a:rPr lang="en-US" sz="1100" i="0" dirty="0">
                <a:solidFill>
                  <a:srgbClr val="2E1B5B"/>
                </a:solidFill>
                <a:latin typeface="Calibri" pitchFamily="34" charset="0"/>
                <a:ea typeface="Calibri" pitchFamily="34" charset="-122"/>
                <a:cs typeface="Calibri" pitchFamily="34" charset="-120"/>
              </a:rPr>
              <a:t>HackersLobby · VTU-QFF-HC-0108</a:t>
            </a:r>
            <a:endParaRPr lang="en-US" sz="1100" dirty="0"/>
          </a:p>
        </p:txBody>
      </p:sp>
      <p:sp>
        <p:nvSpPr>
          <p:cNvPr id="13" name="Field: TEAM LEADER"/>
          <p:cNvSpPr/>
          <p:nvPr/>
        </p:nvSpPr>
        <p:spPr>
          <a:xfrm>
            <a:off x="402336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a:p>
            <a:pPr marL="0" indent="0" algn="l">
              <a:buNone/>
            </a:pPr>
            <a:r>
              <a:rPr lang="en-US" sz="1200" i="0" dirty="0">
                <a:solidFill>
                  <a:srgbClr val="2E1B5B"/>
                </a:solidFill>
                <a:latin typeface="Calibri" pitchFamily="34" charset="0"/>
                <a:ea typeface="Calibri" pitchFamily="34" charset="-122"/>
                <a:cs typeface="Calibri" pitchFamily="34" charset="-120"/>
              </a:rPr>
              <a:t>Sahinur Rahman</a:t>
            </a:r>
            <a:endParaRPr lang="en-US" sz="900" dirty="0"/>
          </a:p>
        </p:txBody>
      </p:sp>
      <p:sp>
        <p:nvSpPr>
          <p:cNvPr id="14" name="Field: EMAIL / CONTACT"/>
          <p:cNvSpPr/>
          <p:nvPr/>
        </p:nvSpPr>
        <p:spPr>
          <a:xfrm>
            <a:off x="640080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EMAIL / CONTACT</a:t>
            </a:r>
            <a:endParaRPr lang="en-US" sz="900" dirty="0"/>
          </a:p>
          <a:p>
            <a:pPr marL="0" indent="0" algn="l">
              <a:buNone/>
            </a:pPr>
            <a:r>
              <a:rPr lang="en-US" sz="1200" i="0" dirty="0">
                <a:solidFill>
                  <a:srgbClr val="2E1B5B"/>
                </a:solidFill>
                <a:latin typeface="Calibri" pitchFamily="34" charset="0"/>
                <a:ea typeface="Calibri" pitchFamily="34" charset="-122"/>
                <a:cs typeface="Calibri" pitchFamily="34" charset="-120"/>
              </a:rPr>
              <a:t>sahinurrahman1847@gmail.com</a:t>
            </a:r>
            <a:endParaRPr lang="en-US" sz="900" dirty="0"/>
          </a:p>
        </p:txBody>
      </p:sp>
      <p:sp>
        <p:nvSpPr>
          <p:cNvPr id="15" name="Field: TEAM MEMBERS"/>
          <p:cNvSpPr/>
          <p:nvPr/>
        </p:nvSpPr>
        <p:spPr>
          <a:xfrm>
            <a:off x="4023360" y="3072384"/>
            <a:ext cx="4663440" cy="59290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a:p>
            <a:pPr marL="0" indent="0" algn="l">
              <a:buNone/>
            </a:pPr>
            <a:r>
              <a:rPr lang="en-US" sz="1200" i="0" dirty="0">
                <a:solidFill>
                  <a:srgbClr val="2E1B5B"/>
                </a:solidFill>
                <a:latin typeface="Calibri" pitchFamily="34" charset="0"/>
                <a:ea typeface="Calibri" pitchFamily="34" charset="-122"/>
                <a:cs typeface="Calibri" pitchFamily="34" charset="-120"/>
              </a:rPr>
              <a:t>Sahinur Rahman (Lead)  ·  Subhraditya Ghosh  ·  Archisman Halder</a:t>
            </a:r>
            <a:endParaRPr lang="en-US" sz="900" dirty="0"/>
          </a:p>
        </p:txBody>
      </p:sp>
      <p:sp>
        <p:nvSpPr>
          <p:cNvPr id="16" name="Field: INSTITUTION / ORGANISATION"/>
          <p:cNvSpPr/>
          <p:nvPr/>
        </p:nvSpPr>
        <p:spPr>
          <a:xfrm>
            <a:off x="4023360" y="3796220"/>
            <a:ext cx="2286000" cy="66459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INSTITUTION / ORGANISATION</a:t>
            </a:r>
            <a:endParaRPr lang="en-US" sz="900" dirty="0"/>
          </a:p>
          <a:p>
            <a:pPr marL="0" indent="0" algn="l">
              <a:buNone/>
            </a:pPr>
            <a:r>
              <a:rPr lang="en-US" sz="1200" dirty="0">
                <a:solidFill>
                  <a:srgbClr val="2E1B5B"/>
                </a:solidFill>
                <a:latin typeface="Calibri" pitchFamily="34" charset="0"/>
                <a:ea typeface="Calibri" pitchFamily="34" charset="-122"/>
                <a:cs typeface="Calibri" pitchFamily="34" charset="-120"/>
              </a:rPr>
              <a:t>Kalyani Government Engineering College</a:t>
            </a:r>
            <a:endParaRPr lang="en-US" sz="900" dirty="0"/>
          </a:p>
        </p:txBody>
      </p:sp>
      <p:sp>
        <p:nvSpPr>
          <p:cNvPr id="17" name="Field: COUNTRY"/>
          <p:cNvSpPr/>
          <p:nvPr/>
        </p:nvSpPr>
        <p:spPr>
          <a:xfrm>
            <a:off x="6355080" y="3796220"/>
            <a:ext cx="2286000" cy="66459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endParaRPr lang="en-US" sz="900" dirty="0"/>
          </a:p>
          <a:p>
            <a:pPr marL="0" indent="0" algn="l">
              <a:buNone/>
            </a:pPr>
            <a:r>
              <a:rPr lang="en-US" sz="1200" i="0" dirty="0">
                <a:solidFill>
                  <a:srgbClr val="2E1B5B"/>
                </a:solidFill>
                <a:latin typeface="Calibri" pitchFamily="34" charset="0"/>
                <a:ea typeface="Calibri" pitchFamily="34" charset="-122"/>
                <a:cs typeface="Calibri" pitchFamily="34" charset="-120"/>
              </a:rPr>
              <a:t>India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
        <p:nvSpPr>
          <p:cNvPr id="26" name="Text"/>
          <p:cNvSpPr txBox="1"/>
          <p:nvPr/>
        </p:nvSpPr>
        <p:spPr>
          <a:xfrm>
            <a:off x="685800" y="1865376"/>
            <a:ext cx="4206240" cy="274320"/>
          </a:xfrm>
          <a:prstGeom prst="rect">
            <a:avLst/>
          </a:prstGeom>
          <a:noFill/>
        </p:spPr>
        <p:txBody>
          <a:bodyPr wrap="square" lIns="0" tIns="0" rIns="0" bIns="0" anchor="t">
            <a:spAutoFit/>
          </a:bodyPr>
          <a:lstStyle/>
          <a:p>
            <a:pPr algn="l"/>
            <a:r>
              <a:rPr sz="1300" b="1" i="0">
                <a:solidFill>
                  <a:srgbClr val="5B3BA8"/>
                </a:solidFill>
                <a:latin typeface="Georgia"/>
              </a:rPr>
              <a:t>Harvest now, decrypt later</a:t>
            </a:r>
          </a:p>
        </p:txBody>
      </p:sp>
      <p:sp>
        <p:nvSpPr>
          <p:cNvPr id="27" name="Icon bg FiRadio"/>
          <p:cNvSpPr/>
          <p:nvPr/>
        </p:nvSpPr>
        <p:spPr>
          <a:xfrm>
            <a:off x="1097280" y="2240280"/>
            <a:ext cx="566928" cy="566928"/>
          </a:xfrm>
          <a:prstGeom prst="ellipse">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Icon FiRadio" descr="FiRadio_w.png"/>
          <p:cNvPicPr>
            <a:picLocks noChangeAspect="1"/>
          </p:cNvPicPr>
          <p:nvPr/>
        </p:nvPicPr>
        <p:blipFill>
          <a:blip r:embed="rId3"/>
          <a:stretch>
            <a:fillRect/>
          </a:stretch>
        </p:blipFill>
        <p:spPr>
          <a:xfrm>
            <a:off x="1222004" y="2365004"/>
            <a:ext cx="317479" cy="317479"/>
          </a:xfrm>
          <a:prstGeom prst="rect">
            <a:avLst/>
          </a:prstGeom>
        </p:spPr>
      </p:pic>
      <p:sp>
        <p:nvSpPr>
          <p:cNvPr id="29" name="Text"/>
          <p:cNvSpPr txBox="1"/>
          <p:nvPr/>
        </p:nvSpPr>
        <p:spPr>
          <a:xfrm>
            <a:off x="777240" y="2880360"/>
            <a:ext cx="1188720" cy="201168"/>
          </a:xfrm>
          <a:prstGeom prst="rect">
            <a:avLst/>
          </a:prstGeom>
          <a:noFill/>
        </p:spPr>
        <p:txBody>
          <a:bodyPr wrap="square" lIns="0" tIns="0" rIns="0" bIns="0" anchor="t">
            <a:spAutoFit/>
          </a:bodyPr>
          <a:lstStyle/>
          <a:p>
            <a:pPr algn="ctr"/>
            <a:r>
              <a:rPr sz="1050" b="1" i="0">
                <a:solidFill>
                  <a:srgbClr val="7C93F0"/>
                </a:solidFill>
                <a:latin typeface="Calibri"/>
              </a:rPr>
              <a:t>TODAY</a:t>
            </a:r>
          </a:p>
        </p:txBody>
      </p:sp>
      <p:sp>
        <p:nvSpPr>
          <p:cNvPr id="30" name="Text"/>
          <p:cNvSpPr txBox="1"/>
          <p:nvPr/>
        </p:nvSpPr>
        <p:spPr>
          <a:xfrm>
            <a:off x="731520" y="3090672"/>
            <a:ext cx="1298448" cy="369332"/>
          </a:xfrm>
          <a:prstGeom prst="rect">
            <a:avLst/>
          </a:prstGeom>
          <a:noFill/>
        </p:spPr>
        <p:txBody>
          <a:bodyPr wrap="square" lIns="0" tIns="0" rIns="0" bIns="0" anchor="t">
            <a:spAutoFit/>
          </a:bodyPr>
          <a:lstStyle/>
          <a:p>
            <a:pPr algn="ctr"/>
            <a:r>
              <a:rPr sz="1200" b="0" i="0" dirty="0">
                <a:solidFill>
                  <a:srgbClr val="2E1B5B"/>
                </a:solidFill>
                <a:latin typeface="Calibri"/>
              </a:rPr>
              <a:t>Traffic is recorded</a:t>
            </a:r>
          </a:p>
          <a:p>
            <a:pPr algn="ctr"/>
            <a:r>
              <a:rPr sz="1200" b="0" i="0" dirty="0">
                <a:solidFill>
                  <a:srgbClr val="2E1B5B"/>
                </a:solidFill>
                <a:latin typeface="Calibri"/>
              </a:rPr>
              <a:t>while encrypted</a:t>
            </a:r>
          </a:p>
        </p:txBody>
      </p:sp>
      <p:sp>
        <p:nvSpPr>
          <p:cNvPr id="31" name="Arrow"/>
          <p:cNvSpPr/>
          <p:nvPr/>
        </p:nvSpPr>
        <p:spPr>
          <a:xfrm>
            <a:off x="1783080" y="2432304"/>
            <a:ext cx="347472" cy="201168"/>
          </a:xfrm>
          <a:prstGeom prst="rightArrow">
            <a:avLst/>
          </a:prstGeom>
          <a:solidFill>
            <a:srgbClr val="B8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Icon bg FiArchive"/>
          <p:cNvSpPr/>
          <p:nvPr/>
        </p:nvSpPr>
        <p:spPr>
          <a:xfrm>
            <a:off x="2514600" y="2240280"/>
            <a:ext cx="566928" cy="566928"/>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3" name="Icon FiArchive" descr="FiArchive_w.png"/>
          <p:cNvPicPr>
            <a:picLocks noChangeAspect="1"/>
          </p:cNvPicPr>
          <p:nvPr/>
        </p:nvPicPr>
        <p:blipFill>
          <a:blip r:embed="rId4"/>
          <a:stretch>
            <a:fillRect/>
          </a:stretch>
        </p:blipFill>
        <p:spPr>
          <a:xfrm>
            <a:off x="2639324" y="2365004"/>
            <a:ext cx="317479" cy="317479"/>
          </a:xfrm>
          <a:prstGeom prst="rect">
            <a:avLst/>
          </a:prstGeom>
        </p:spPr>
      </p:pic>
      <p:sp>
        <p:nvSpPr>
          <p:cNvPr id="34" name="Text"/>
          <p:cNvSpPr txBox="1"/>
          <p:nvPr/>
        </p:nvSpPr>
        <p:spPr>
          <a:xfrm>
            <a:off x="2194560" y="2880360"/>
            <a:ext cx="1188720" cy="201168"/>
          </a:xfrm>
          <a:prstGeom prst="rect">
            <a:avLst/>
          </a:prstGeom>
          <a:noFill/>
        </p:spPr>
        <p:txBody>
          <a:bodyPr wrap="square" lIns="0" tIns="0" rIns="0" bIns="0" anchor="t">
            <a:spAutoFit/>
          </a:bodyPr>
          <a:lstStyle/>
          <a:p>
            <a:pPr algn="ctr"/>
            <a:r>
              <a:rPr sz="1050" b="1" i="0">
                <a:solidFill>
                  <a:srgbClr val="5B3BA8"/>
                </a:solidFill>
                <a:latin typeface="Calibri"/>
              </a:rPr>
              <a:t>STORED</a:t>
            </a:r>
          </a:p>
        </p:txBody>
      </p:sp>
      <p:sp>
        <p:nvSpPr>
          <p:cNvPr id="35" name="Text"/>
          <p:cNvSpPr txBox="1"/>
          <p:nvPr/>
        </p:nvSpPr>
        <p:spPr>
          <a:xfrm>
            <a:off x="2148840" y="3090672"/>
            <a:ext cx="1298448" cy="369332"/>
          </a:xfrm>
          <a:prstGeom prst="rect">
            <a:avLst/>
          </a:prstGeom>
          <a:noFill/>
        </p:spPr>
        <p:txBody>
          <a:bodyPr wrap="square" lIns="0" tIns="0" rIns="0" bIns="0" anchor="t">
            <a:spAutoFit/>
          </a:bodyPr>
          <a:lstStyle/>
          <a:p>
            <a:pPr algn="ctr"/>
            <a:r>
              <a:rPr sz="1200" b="0" i="0" dirty="0">
                <a:solidFill>
                  <a:srgbClr val="2E1B5B"/>
                </a:solidFill>
                <a:latin typeface="Calibri"/>
              </a:rPr>
              <a:t>It waits, unread,</a:t>
            </a:r>
          </a:p>
          <a:p>
            <a:pPr algn="ctr"/>
            <a:r>
              <a:rPr sz="1200" b="0" i="0" dirty="0">
                <a:solidFill>
                  <a:srgbClr val="2E1B5B"/>
                </a:solidFill>
                <a:latin typeface="Calibri"/>
              </a:rPr>
              <a:t>for years</a:t>
            </a:r>
          </a:p>
        </p:txBody>
      </p:sp>
      <p:sp>
        <p:nvSpPr>
          <p:cNvPr id="36" name="Arrow"/>
          <p:cNvSpPr/>
          <p:nvPr/>
        </p:nvSpPr>
        <p:spPr>
          <a:xfrm>
            <a:off x="3200400" y="2432304"/>
            <a:ext cx="347472" cy="201168"/>
          </a:xfrm>
          <a:prstGeom prst="rightArrow">
            <a:avLst/>
          </a:prstGeom>
          <a:solidFill>
            <a:srgbClr val="B8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Icon bg FiCpu"/>
          <p:cNvSpPr/>
          <p:nvPr/>
        </p:nvSpPr>
        <p:spPr>
          <a:xfrm>
            <a:off x="3931920" y="2240280"/>
            <a:ext cx="566928" cy="566928"/>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Icon FiCpu" descr="FiCpu_w.png"/>
          <p:cNvPicPr>
            <a:picLocks noChangeAspect="1"/>
          </p:cNvPicPr>
          <p:nvPr/>
        </p:nvPicPr>
        <p:blipFill>
          <a:blip r:embed="rId5"/>
          <a:stretch>
            <a:fillRect/>
          </a:stretch>
        </p:blipFill>
        <p:spPr>
          <a:xfrm>
            <a:off x="4056644" y="2365004"/>
            <a:ext cx="317479" cy="317479"/>
          </a:xfrm>
          <a:prstGeom prst="rect">
            <a:avLst/>
          </a:prstGeom>
        </p:spPr>
      </p:pic>
      <p:sp>
        <p:nvSpPr>
          <p:cNvPr id="39" name="Text"/>
          <p:cNvSpPr txBox="1"/>
          <p:nvPr/>
        </p:nvSpPr>
        <p:spPr>
          <a:xfrm>
            <a:off x="3611880" y="2880360"/>
            <a:ext cx="1188720" cy="201168"/>
          </a:xfrm>
          <a:prstGeom prst="rect">
            <a:avLst/>
          </a:prstGeom>
          <a:noFill/>
        </p:spPr>
        <p:txBody>
          <a:bodyPr wrap="square" lIns="0" tIns="0" rIns="0" bIns="0" anchor="t">
            <a:spAutoFit/>
          </a:bodyPr>
          <a:lstStyle/>
          <a:p>
            <a:pPr algn="ctr"/>
            <a:r>
              <a:rPr sz="1050" b="1" i="0">
                <a:solidFill>
                  <a:srgbClr val="E8639F"/>
                </a:solidFill>
                <a:latin typeface="Calibri"/>
              </a:rPr>
              <a:t>LATER</a:t>
            </a:r>
          </a:p>
        </p:txBody>
      </p:sp>
      <p:sp>
        <p:nvSpPr>
          <p:cNvPr id="40" name="Text"/>
          <p:cNvSpPr txBox="1"/>
          <p:nvPr/>
        </p:nvSpPr>
        <p:spPr>
          <a:xfrm>
            <a:off x="3566160" y="3090672"/>
            <a:ext cx="1298448" cy="353943"/>
          </a:xfrm>
          <a:prstGeom prst="rect">
            <a:avLst/>
          </a:prstGeom>
          <a:noFill/>
        </p:spPr>
        <p:txBody>
          <a:bodyPr wrap="square" lIns="0" tIns="0" rIns="0" bIns="0" anchor="t">
            <a:spAutoFit/>
          </a:bodyPr>
          <a:lstStyle/>
          <a:p>
            <a:pPr algn="ctr"/>
            <a:r>
              <a:rPr sz="1150" b="0" i="0" dirty="0">
                <a:solidFill>
                  <a:srgbClr val="2E1B5B"/>
                </a:solidFill>
                <a:latin typeface="Calibri"/>
              </a:rPr>
              <a:t>A quantum computer</a:t>
            </a:r>
          </a:p>
          <a:p>
            <a:pPr algn="ctr"/>
            <a:r>
              <a:rPr sz="1150" b="0" i="0" dirty="0">
                <a:solidFill>
                  <a:srgbClr val="2E1B5B"/>
                </a:solidFill>
                <a:latin typeface="Calibri"/>
              </a:rPr>
              <a:t>breaks RSA / ECC</a:t>
            </a:r>
          </a:p>
        </p:txBody>
      </p:sp>
      <p:sp>
        <p:nvSpPr>
          <p:cNvPr id="41" name="Human hook"/>
          <p:cNvSpPr/>
          <p:nvPr/>
        </p:nvSpPr>
        <p:spPr>
          <a:xfrm>
            <a:off x="685800" y="3657600"/>
            <a:ext cx="4206240" cy="731520"/>
          </a:xfrm>
          <a:prstGeom prst="roundRect">
            <a:avLst>
              <a:gd name="adj" fmla="val 15000"/>
            </a:avLst>
          </a:prstGeom>
          <a:solidFill>
            <a:srgbClr val="FCE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Icon bg FiHeart"/>
          <p:cNvSpPr/>
          <p:nvPr/>
        </p:nvSpPr>
        <p:spPr>
          <a:xfrm>
            <a:off x="822960" y="3794760"/>
            <a:ext cx="457200" cy="45720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3" name="Icon FiHeart" descr="FiHeart_w.png"/>
          <p:cNvPicPr>
            <a:picLocks noChangeAspect="1"/>
          </p:cNvPicPr>
          <p:nvPr/>
        </p:nvPicPr>
        <p:blipFill>
          <a:blip r:embed="rId6"/>
          <a:stretch>
            <a:fillRect/>
          </a:stretch>
        </p:blipFill>
        <p:spPr>
          <a:xfrm>
            <a:off x="923544" y="3895344"/>
            <a:ext cx="256032" cy="256032"/>
          </a:xfrm>
          <a:prstGeom prst="rect">
            <a:avLst/>
          </a:prstGeom>
        </p:spPr>
      </p:pic>
      <p:sp>
        <p:nvSpPr>
          <p:cNvPr id="44" name="Text"/>
          <p:cNvSpPr txBox="1"/>
          <p:nvPr/>
        </p:nvSpPr>
        <p:spPr>
          <a:xfrm>
            <a:off x="1417320" y="3657600"/>
            <a:ext cx="3383280" cy="731520"/>
          </a:xfrm>
          <a:prstGeom prst="rect">
            <a:avLst/>
          </a:prstGeom>
          <a:noFill/>
        </p:spPr>
        <p:txBody>
          <a:bodyPr wrap="square" lIns="0" tIns="0" rIns="0" bIns="0" anchor="ctr">
            <a:spAutoFit/>
          </a:bodyPr>
          <a:lstStyle/>
          <a:p>
            <a:pPr algn="l"/>
            <a:r>
              <a:rPr sz="1100" b="0" i="0">
                <a:solidFill>
                  <a:srgbClr val="2E1B5B"/>
                </a:solidFill>
                <a:latin typeface="Calibri"/>
              </a:rPr>
              <a:t>A patient record sent today must stay private until </a:t>
            </a:r>
            <a:r>
              <a:rPr sz="1100" b="1" i="0">
                <a:solidFill>
                  <a:srgbClr val="E8639F"/>
                </a:solidFill>
                <a:latin typeface="Calibri"/>
              </a:rPr>
              <a:t>2051</a:t>
            </a:r>
            <a:r>
              <a:rPr sz="1100" b="0" i="0">
                <a:solidFill>
                  <a:srgbClr val="2E1B5B"/>
                </a:solidFill>
                <a:latin typeface="Calibri"/>
              </a:rPr>
              <a:t>. The encryption protecting it may not last that long.</a:t>
            </a:r>
          </a:p>
        </p:txBody>
      </p:sp>
      <p:sp>
        <p:nvSpPr>
          <p:cNvPr id="45" name="Text"/>
          <p:cNvSpPr txBox="1"/>
          <p:nvPr/>
        </p:nvSpPr>
        <p:spPr>
          <a:xfrm>
            <a:off x="5166360" y="1865376"/>
            <a:ext cx="3291840" cy="274320"/>
          </a:xfrm>
          <a:prstGeom prst="rect">
            <a:avLst/>
          </a:prstGeom>
          <a:noFill/>
        </p:spPr>
        <p:txBody>
          <a:bodyPr wrap="square" lIns="0" tIns="0" rIns="0" bIns="0" anchor="t">
            <a:spAutoFit/>
          </a:bodyPr>
          <a:lstStyle/>
          <a:p>
            <a:pPr algn="l"/>
            <a:r>
              <a:rPr sz="1300" b="1" i="0">
                <a:solidFill>
                  <a:srgbClr val="5B3BA8"/>
                </a:solidFill>
                <a:latin typeface="Georgia"/>
              </a:rPr>
              <a:t>In our sample hospital</a:t>
            </a:r>
          </a:p>
        </p:txBody>
      </p:sp>
      <p:sp>
        <p:nvSpPr>
          <p:cNvPr id="46" name="Stat tile"/>
          <p:cNvSpPr/>
          <p:nvPr/>
        </p:nvSpPr>
        <p:spPr>
          <a:xfrm>
            <a:off x="5166360" y="2212848"/>
            <a:ext cx="3291840" cy="658368"/>
          </a:xfrm>
          <a:prstGeom prst="roundRect">
            <a:avLst>
              <a:gd name="adj" fmla="val 1666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
          <p:cNvSpPr txBox="1"/>
          <p:nvPr/>
        </p:nvSpPr>
        <p:spPr>
          <a:xfrm>
            <a:off x="5303520" y="2212848"/>
            <a:ext cx="1382572" cy="658368"/>
          </a:xfrm>
          <a:prstGeom prst="rect">
            <a:avLst/>
          </a:prstGeom>
          <a:noFill/>
        </p:spPr>
        <p:txBody>
          <a:bodyPr wrap="square" lIns="0" tIns="0" rIns="0" bIns="0" anchor="ctr">
            <a:spAutoFit/>
          </a:bodyPr>
          <a:lstStyle/>
          <a:p>
            <a:pPr algn="l"/>
            <a:r>
              <a:rPr sz="2600" b="1" i="0">
                <a:solidFill>
                  <a:srgbClr val="E8639F"/>
                </a:solidFill>
                <a:latin typeface="Georgia"/>
              </a:rPr>
              <a:t>11 / 13</a:t>
            </a:r>
          </a:p>
        </p:txBody>
      </p:sp>
      <p:sp>
        <p:nvSpPr>
          <p:cNvPr id="48" name="Text"/>
          <p:cNvSpPr txBox="1"/>
          <p:nvPr/>
        </p:nvSpPr>
        <p:spPr>
          <a:xfrm>
            <a:off x="6686092" y="2357366"/>
            <a:ext cx="1680667" cy="369332"/>
          </a:xfrm>
          <a:prstGeom prst="rect">
            <a:avLst/>
          </a:prstGeom>
          <a:noFill/>
        </p:spPr>
        <p:txBody>
          <a:bodyPr wrap="square" lIns="0" tIns="0" rIns="0" bIns="0" anchor="ctr">
            <a:spAutoFit/>
          </a:bodyPr>
          <a:lstStyle/>
          <a:p>
            <a:pPr algn="l"/>
            <a:r>
              <a:rPr lang="en-US" sz="1200" dirty="0">
                <a:solidFill>
                  <a:srgbClr val="2E1B5B"/>
                </a:solidFill>
                <a:latin typeface="Calibri"/>
              </a:rPr>
              <a:t>S</a:t>
            </a:r>
            <a:r>
              <a:rPr sz="1200" b="0" i="0" dirty="0">
                <a:solidFill>
                  <a:srgbClr val="2E1B5B"/>
                </a:solidFill>
                <a:latin typeface="Calibri"/>
              </a:rPr>
              <a:t>ystems rely on quantum-vulnerable cryptography</a:t>
            </a:r>
          </a:p>
        </p:txBody>
      </p:sp>
      <p:sp>
        <p:nvSpPr>
          <p:cNvPr id="49" name="Stat tile"/>
          <p:cNvSpPr/>
          <p:nvPr/>
        </p:nvSpPr>
        <p:spPr>
          <a:xfrm>
            <a:off x="5166360" y="2962656"/>
            <a:ext cx="3291840" cy="658368"/>
          </a:xfrm>
          <a:prstGeom prst="roundRect">
            <a:avLst>
              <a:gd name="adj" fmla="val 1666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
          <p:cNvSpPr txBox="1"/>
          <p:nvPr/>
        </p:nvSpPr>
        <p:spPr>
          <a:xfrm>
            <a:off x="5303520" y="2962656"/>
            <a:ext cx="1382572" cy="658368"/>
          </a:xfrm>
          <a:prstGeom prst="rect">
            <a:avLst/>
          </a:prstGeom>
          <a:noFill/>
        </p:spPr>
        <p:txBody>
          <a:bodyPr wrap="square" lIns="0" tIns="0" rIns="0" bIns="0" anchor="ctr">
            <a:spAutoFit/>
          </a:bodyPr>
          <a:lstStyle/>
          <a:p>
            <a:pPr algn="l"/>
            <a:r>
              <a:rPr sz="2600" b="1" i="0">
                <a:solidFill>
                  <a:srgbClr val="5B3BA8"/>
                </a:solidFill>
                <a:latin typeface="Georgia"/>
              </a:rPr>
              <a:t>25 yrs</a:t>
            </a:r>
          </a:p>
        </p:txBody>
      </p:sp>
      <p:sp>
        <p:nvSpPr>
          <p:cNvPr id="51" name="Text"/>
          <p:cNvSpPr txBox="1"/>
          <p:nvPr/>
        </p:nvSpPr>
        <p:spPr>
          <a:xfrm>
            <a:off x="6686092" y="3107174"/>
            <a:ext cx="1680667" cy="369332"/>
          </a:xfrm>
          <a:prstGeom prst="rect">
            <a:avLst/>
          </a:prstGeom>
          <a:noFill/>
        </p:spPr>
        <p:txBody>
          <a:bodyPr wrap="square" lIns="0" tIns="0" rIns="0" bIns="0" anchor="ctr">
            <a:spAutoFit/>
          </a:bodyPr>
          <a:lstStyle/>
          <a:p>
            <a:pPr algn="l"/>
            <a:r>
              <a:rPr lang="en-US" sz="1200" dirty="0">
                <a:solidFill>
                  <a:srgbClr val="2E1B5B"/>
                </a:solidFill>
                <a:latin typeface="Calibri"/>
              </a:rPr>
              <a:t>H</a:t>
            </a:r>
            <a:r>
              <a:rPr sz="1200" b="0" i="0" dirty="0">
                <a:solidFill>
                  <a:srgbClr val="2E1B5B"/>
                </a:solidFill>
                <a:latin typeface="Calibri"/>
              </a:rPr>
              <a:t>ealth records must stay confidential</a:t>
            </a:r>
          </a:p>
        </p:txBody>
      </p:sp>
      <p:sp>
        <p:nvSpPr>
          <p:cNvPr id="52" name="Stat tile"/>
          <p:cNvSpPr/>
          <p:nvPr/>
        </p:nvSpPr>
        <p:spPr>
          <a:xfrm>
            <a:off x="5166360" y="3712463"/>
            <a:ext cx="3291840" cy="658368"/>
          </a:xfrm>
          <a:prstGeom prst="roundRect">
            <a:avLst>
              <a:gd name="adj" fmla="val 1666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p:cNvSpPr txBox="1"/>
          <p:nvPr/>
        </p:nvSpPr>
        <p:spPr>
          <a:xfrm>
            <a:off x="5303520" y="3712463"/>
            <a:ext cx="1382572" cy="658368"/>
          </a:xfrm>
          <a:prstGeom prst="rect">
            <a:avLst/>
          </a:prstGeom>
          <a:noFill/>
        </p:spPr>
        <p:txBody>
          <a:bodyPr wrap="square" lIns="0" tIns="0" rIns="0" bIns="0" anchor="ctr">
            <a:spAutoFit/>
          </a:bodyPr>
          <a:lstStyle/>
          <a:p>
            <a:pPr algn="l"/>
            <a:r>
              <a:rPr sz="2600" b="1" i="0">
                <a:solidFill>
                  <a:srgbClr val="7C93F0"/>
                </a:solidFill>
                <a:latin typeface="Georgia"/>
              </a:rPr>
              <a:t>2</a:t>
            </a:r>
          </a:p>
        </p:txBody>
      </p:sp>
      <p:sp>
        <p:nvSpPr>
          <p:cNvPr id="54" name="Text"/>
          <p:cNvSpPr txBox="1"/>
          <p:nvPr/>
        </p:nvSpPr>
        <p:spPr>
          <a:xfrm>
            <a:off x="6686092" y="3856981"/>
            <a:ext cx="1680667" cy="369332"/>
          </a:xfrm>
          <a:prstGeom prst="rect">
            <a:avLst/>
          </a:prstGeom>
          <a:noFill/>
        </p:spPr>
        <p:txBody>
          <a:bodyPr wrap="square" lIns="0" tIns="0" rIns="0" bIns="0" anchor="ctr">
            <a:spAutoFit/>
          </a:bodyPr>
          <a:lstStyle/>
          <a:p>
            <a:pPr algn="l"/>
            <a:r>
              <a:rPr lang="en-US" sz="1200" dirty="0">
                <a:solidFill>
                  <a:srgbClr val="2E1B5B"/>
                </a:solidFill>
                <a:latin typeface="Calibri"/>
              </a:rPr>
              <a:t>S</a:t>
            </a:r>
            <a:r>
              <a:rPr sz="1200" b="0" i="0" dirty="0">
                <a:solidFill>
                  <a:srgbClr val="2E1B5B"/>
                </a:solidFill>
                <a:latin typeface="Calibri"/>
              </a:rPr>
              <a:t>ystems where nobody can say what crypto runs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
        <p:nvSpPr>
          <p:cNvPr id="26" name="Text"/>
          <p:cNvSpPr txBox="1"/>
          <p:nvPr/>
        </p:nvSpPr>
        <p:spPr>
          <a:xfrm>
            <a:off x="685800" y="1865376"/>
            <a:ext cx="3840480" cy="274320"/>
          </a:xfrm>
          <a:prstGeom prst="rect">
            <a:avLst/>
          </a:prstGeom>
          <a:noFill/>
        </p:spPr>
        <p:txBody>
          <a:bodyPr wrap="square" lIns="0" tIns="0" rIns="0" bIns="0" anchor="t">
            <a:spAutoFit/>
          </a:bodyPr>
          <a:lstStyle/>
          <a:p>
            <a:pPr algn="l"/>
            <a:r>
              <a:rPr sz="1300" b="1" i="0">
                <a:solidFill>
                  <a:srgbClr val="5B3BA8"/>
                </a:solidFill>
                <a:latin typeface="Georgia"/>
              </a:rPr>
              <a:t>One test every system has to pass</a:t>
            </a:r>
          </a:p>
        </p:txBody>
      </p:sp>
      <p:sp>
        <p:nvSpPr>
          <p:cNvPr id="27" name="Mosca X"/>
          <p:cNvSpPr/>
          <p:nvPr/>
        </p:nvSpPr>
        <p:spPr>
          <a:xfrm>
            <a:off x="685800" y="2240280"/>
            <a:ext cx="868680" cy="685800"/>
          </a:xfrm>
          <a:prstGeom prst="roundRect">
            <a:avLst>
              <a:gd name="adj" fmla="val 16000"/>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p:cNvSpPr txBox="1"/>
          <p:nvPr/>
        </p:nvSpPr>
        <p:spPr>
          <a:xfrm>
            <a:off x="685800" y="2240280"/>
            <a:ext cx="868680" cy="685800"/>
          </a:xfrm>
          <a:prstGeom prst="rect">
            <a:avLst/>
          </a:prstGeom>
          <a:noFill/>
        </p:spPr>
        <p:txBody>
          <a:bodyPr wrap="square" lIns="0" tIns="0" rIns="0" bIns="0" anchor="ctr">
            <a:spAutoFit/>
          </a:bodyPr>
          <a:lstStyle/>
          <a:p>
            <a:pPr algn="ctr"/>
            <a:r>
              <a:rPr sz="3000" b="1" i="0">
                <a:solidFill>
                  <a:srgbClr val="FFFFFF"/>
                </a:solidFill>
                <a:latin typeface="Georgia"/>
              </a:rPr>
              <a:t>X</a:t>
            </a:r>
          </a:p>
        </p:txBody>
      </p:sp>
      <p:sp>
        <p:nvSpPr>
          <p:cNvPr id="29" name="Text"/>
          <p:cNvSpPr txBox="1"/>
          <p:nvPr/>
        </p:nvSpPr>
        <p:spPr>
          <a:xfrm>
            <a:off x="548640" y="2990088"/>
            <a:ext cx="1143000" cy="369332"/>
          </a:xfrm>
          <a:prstGeom prst="rect">
            <a:avLst/>
          </a:prstGeom>
          <a:noFill/>
        </p:spPr>
        <p:txBody>
          <a:bodyPr wrap="square" lIns="0" tIns="0" rIns="0" bIns="0" anchor="t">
            <a:spAutoFit/>
          </a:bodyPr>
          <a:lstStyle/>
          <a:p>
            <a:pPr algn="ctr"/>
            <a:r>
              <a:rPr lang="en-US" sz="1200" b="0" i="0" dirty="0">
                <a:solidFill>
                  <a:srgbClr val="6F7399"/>
                </a:solidFill>
                <a:latin typeface="Calibri"/>
              </a:rPr>
              <a:t>Y</a:t>
            </a:r>
            <a:r>
              <a:rPr sz="1200" b="0" i="0" dirty="0">
                <a:solidFill>
                  <a:srgbClr val="6F7399"/>
                </a:solidFill>
                <a:latin typeface="Calibri"/>
              </a:rPr>
              <a:t>ears the </a:t>
            </a:r>
            <a:r>
              <a:rPr lang="en-US" sz="1200" dirty="0">
                <a:solidFill>
                  <a:srgbClr val="6F7399"/>
                </a:solidFill>
                <a:latin typeface="Calibri"/>
              </a:rPr>
              <a:t>D</a:t>
            </a:r>
            <a:r>
              <a:rPr sz="1200" b="0" i="0" dirty="0">
                <a:solidFill>
                  <a:srgbClr val="6F7399"/>
                </a:solidFill>
                <a:latin typeface="Calibri"/>
              </a:rPr>
              <a:t>ata</a:t>
            </a:r>
          </a:p>
          <a:p>
            <a:pPr algn="ctr"/>
            <a:r>
              <a:rPr sz="1200" b="0" i="0" dirty="0">
                <a:solidFill>
                  <a:srgbClr val="6F7399"/>
                </a:solidFill>
                <a:latin typeface="Calibri"/>
              </a:rPr>
              <a:t>must stay secret</a:t>
            </a:r>
          </a:p>
        </p:txBody>
      </p:sp>
      <p:sp>
        <p:nvSpPr>
          <p:cNvPr id="30" name="Text"/>
          <p:cNvSpPr txBox="1"/>
          <p:nvPr/>
        </p:nvSpPr>
        <p:spPr>
          <a:xfrm>
            <a:off x="1554480" y="2240280"/>
            <a:ext cx="457200" cy="685800"/>
          </a:xfrm>
          <a:prstGeom prst="rect">
            <a:avLst/>
          </a:prstGeom>
          <a:noFill/>
        </p:spPr>
        <p:txBody>
          <a:bodyPr wrap="square" lIns="0" tIns="0" rIns="0" bIns="0" anchor="ctr">
            <a:spAutoFit/>
          </a:bodyPr>
          <a:lstStyle/>
          <a:p>
            <a:pPr algn="ctr"/>
            <a:r>
              <a:rPr sz="2600" b="1" i="0">
                <a:solidFill>
                  <a:srgbClr val="2E1B5B"/>
                </a:solidFill>
                <a:latin typeface="Georgia"/>
              </a:rPr>
              <a:t>+</a:t>
            </a:r>
          </a:p>
        </p:txBody>
      </p:sp>
      <p:sp>
        <p:nvSpPr>
          <p:cNvPr id="31" name="Mosca Y"/>
          <p:cNvSpPr/>
          <p:nvPr/>
        </p:nvSpPr>
        <p:spPr>
          <a:xfrm>
            <a:off x="2011680" y="2240280"/>
            <a:ext cx="868680" cy="685800"/>
          </a:xfrm>
          <a:prstGeom prst="roundRect">
            <a:avLst>
              <a:gd name="adj" fmla="val 16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p:cNvSpPr txBox="1"/>
          <p:nvPr/>
        </p:nvSpPr>
        <p:spPr>
          <a:xfrm>
            <a:off x="2011680" y="2240280"/>
            <a:ext cx="868680" cy="685800"/>
          </a:xfrm>
          <a:prstGeom prst="rect">
            <a:avLst/>
          </a:prstGeom>
          <a:noFill/>
        </p:spPr>
        <p:txBody>
          <a:bodyPr wrap="square" lIns="0" tIns="0" rIns="0" bIns="0" anchor="ctr">
            <a:spAutoFit/>
          </a:bodyPr>
          <a:lstStyle/>
          <a:p>
            <a:pPr algn="ctr"/>
            <a:r>
              <a:rPr sz="3000" b="1" i="0">
                <a:solidFill>
                  <a:srgbClr val="FFFFFF"/>
                </a:solidFill>
                <a:latin typeface="Georgia"/>
              </a:rPr>
              <a:t>Y</a:t>
            </a:r>
          </a:p>
        </p:txBody>
      </p:sp>
      <p:sp>
        <p:nvSpPr>
          <p:cNvPr id="33" name="Text"/>
          <p:cNvSpPr txBox="1"/>
          <p:nvPr/>
        </p:nvSpPr>
        <p:spPr>
          <a:xfrm>
            <a:off x="1874520" y="2990088"/>
            <a:ext cx="1143000" cy="369332"/>
          </a:xfrm>
          <a:prstGeom prst="rect">
            <a:avLst/>
          </a:prstGeom>
          <a:noFill/>
        </p:spPr>
        <p:txBody>
          <a:bodyPr wrap="square" lIns="0" tIns="0" rIns="0" bIns="0" anchor="t">
            <a:spAutoFit/>
          </a:bodyPr>
          <a:lstStyle/>
          <a:p>
            <a:pPr algn="ctr"/>
            <a:r>
              <a:rPr lang="en-US" sz="1200" dirty="0">
                <a:solidFill>
                  <a:srgbClr val="6F7399"/>
                </a:solidFill>
                <a:latin typeface="Calibri"/>
              </a:rPr>
              <a:t>Y</a:t>
            </a:r>
            <a:r>
              <a:rPr sz="1200" b="0" i="0" dirty="0">
                <a:solidFill>
                  <a:srgbClr val="6F7399"/>
                </a:solidFill>
                <a:latin typeface="Calibri"/>
              </a:rPr>
              <a:t>ears </a:t>
            </a:r>
            <a:r>
              <a:rPr lang="en-US" sz="1200" dirty="0">
                <a:solidFill>
                  <a:srgbClr val="6F7399"/>
                </a:solidFill>
                <a:latin typeface="Calibri"/>
              </a:rPr>
              <a:t>M</a:t>
            </a:r>
            <a:r>
              <a:rPr sz="1200" b="0" i="0" dirty="0">
                <a:solidFill>
                  <a:srgbClr val="6F7399"/>
                </a:solidFill>
                <a:latin typeface="Calibri"/>
              </a:rPr>
              <a:t>igration</a:t>
            </a:r>
          </a:p>
          <a:p>
            <a:pPr algn="ctr"/>
            <a:r>
              <a:rPr sz="1200" b="0" i="0" dirty="0">
                <a:solidFill>
                  <a:srgbClr val="6F7399"/>
                </a:solidFill>
                <a:latin typeface="Calibri"/>
              </a:rPr>
              <a:t>will take</a:t>
            </a:r>
          </a:p>
        </p:txBody>
      </p:sp>
      <p:sp>
        <p:nvSpPr>
          <p:cNvPr id="34" name="Text"/>
          <p:cNvSpPr txBox="1"/>
          <p:nvPr/>
        </p:nvSpPr>
        <p:spPr>
          <a:xfrm>
            <a:off x="2880360" y="2240280"/>
            <a:ext cx="457200" cy="685800"/>
          </a:xfrm>
          <a:prstGeom prst="rect">
            <a:avLst/>
          </a:prstGeom>
          <a:noFill/>
        </p:spPr>
        <p:txBody>
          <a:bodyPr wrap="square" lIns="0" tIns="0" rIns="0" bIns="0" anchor="ctr">
            <a:spAutoFit/>
          </a:bodyPr>
          <a:lstStyle/>
          <a:p>
            <a:pPr algn="ctr"/>
            <a:r>
              <a:rPr sz="2600" b="1" i="0">
                <a:solidFill>
                  <a:srgbClr val="2E1B5B"/>
                </a:solidFill>
                <a:latin typeface="Georgia"/>
              </a:rPr>
              <a:t>&gt;</a:t>
            </a:r>
          </a:p>
        </p:txBody>
      </p:sp>
      <p:sp>
        <p:nvSpPr>
          <p:cNvPr id="35" name="Mosca Z"/>
          <p:cNvSpPr/>
          <p:nvPr/>
        </p:nvSpPr>
        <p:spPr>
          <a:xfrm>
            <a:off x="3337560" y="2240280"/>
            <a:ext cx="868680" cy="685800"/>
          </a:xfrm>
          <a:prstGeom prst="roundRect">
            <a:avLst>
              <a:gd name="adj" fmla="val 16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
          <p:cNvSpPr txBox="1"/>
          <p:nvPr/>
        </p:nvSpPr>
        <p:spPr>
          <a:xfrm>
            <a:off x="3337560" y="2240280"/>
            <a:ext cx="868680" cy="685800"/>
          </a:xfrm>
          <a:prstGeom prst="rect">
            <a:avLst/>
          </a:prstGeom>
          <a:noFill/>
        </p:spPr>
        <p:txBody>
          <a:bodyPr wrap="square" lIns="0" tIns="0" rIns="0" bIns="0" anchor="ctr">
            <a:spAutoFit/>
          </a:bodyPr>
          <a:lstStyle/>
          <a:p>
            <a:pPr algn="ctr"/>
            <a:r>
              <a:rPr sz="3000" b="1" i="0">
                <a:solidFill>
                  <a:srgbClr val="FFFFFF"/>
                </a:solidFill>
                <a:latin typeface="Georgia"/>
              </a:rPr>
              <a:t>Z</a:t>
            </a:r>
          </a:p>
        </p:txBody>
      </p:sp>
      <p:sp>
        <p:nvSpPr>
          <p:cNvPr id="37" name="Text"/>
          <p:cNvSpPr txBox="1"/>
          <p:nvPr/>
        </p:nvSpPr>
        <p:spPr>
          <a:xfrm>
            <a:off x="3200400" y="2990088"/>
            <a:ext cx="1143000" cy="369332"/>
          </a:xfrm>
          <a:prstGeom prst="rect">
            <a:avLst/>
          </a:prstGeom>
          <a:noFill/>
        </p:spPr>
        <p:txBody>
          <a:bodyPr wrap="square" lIns="0" tIns="0" rIns="0" bIns="0" anchor="t">
            <a:spAutoFit/>
          </a:bodyPr>
          <a:lstStyle/>
          <a:p>
            <a:pPr algn="ctr"/>
            <a:r>
              <a:rPr lang="en-US" sz="1200" dirty="0">
                <a:solidFill>
                  <a:srgbClr val="6F7399"/>
                </a:solidFill>
                <a:latin typeface="Calibri"/>
              </a:rPr>
              <a:t>Y</a:t>
            </a:r>
            <a:r>
              <a:rPr sz="1200" b="0" i="0" dirty="0">
                <a:solidFill>
                  <a:srgbClr val="6F7399"/>
                </a:solidFill>
                <a:latin typeface="Calibri"/>
              </a:rPr>
              <a:t>ears until a</a:t>
            </a:r>
          </a:p>
          <a:p>
            <a:pPr algn="ctr"/>
            <a:r>
              <a:rPr lang="en-US" sz="1200" dirty="0">
                <a:solidFill>
                  <a:srgbClr val="6F7399"/>
                </a:solidFill>
                <a:latin typeface="Calibri"/>
              </a:rPr>
              <a:t>Q</a:t>
            </a:r>
            <a:r>
              <a:rPr sz="1200" b="0" i="0" dirty="0">
                <a:solidFill>
                  <a:srgbClr val="6F7399"/>
                </a:solidFill>
                <a:latin typeface="Calibri"/>
              </a:rPr>
              <a:t>uantum </a:t>
            </a:r>
            <a:r>
              <a:rPr lang="en-US" sz="1200" dirty="0">
                <a:solidFill>
                  <a:srgbClr val="6F7399"/>
                </a:solidFill>
                <a:latin typeface="Calibri"/>
              </a:rPr>
              <a:t>T</a:t>
            </a:r>
            <a:r>
              <a:rPr sz="1200" b="0" i="0" dirty="0">
                <a:solidFill>
                  <a:srgbClr val="6F7399"/>
                </a:solidFill>
                <a:latin typeface="Calibri"/>
              </a:rPr>
              <a:t>hreat</a:t>
            </a:r>
          </a:p>
        </p:txBody>
      </p:sp>
      <p:sp>
        <p:nvSpPr>
          <p:cNvPr id="38" name="Mosca example"/>
          <p:cNvSpPr/>
          <p:nvPr/>
        </p:nvSpPr>
        <p:spPr>
          <a:xfrm>
            <a:off x="685800" y="3611880"/>
            <a:ext cx="3566160" cy="777240"/>
          </a:xfrm>
          <a:prstGeom prst="roundRect">
            <a:avLst>
              <a:gd name="adj" fmla="val 14117"/>
            </a:avLst>
          </a:prstGeom>
          <a:solidFill>
            <a:srgbClr val="FCE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
          <p:cNvSpPr txBox="1"/>
          <p:nvPr/>
        </p:nvSpPr>
        <p:spPr>
          <a:xfrm>
            <a:off x="868680" y="3611880"/>
            <a:ext cx="3291840" cy="777240"/>
          </a:xfrm>
          <a:prstGeom prst="rect">
            <a:avLst/>
          </a:prstGeom>
          <a:noFill/>
        </p:spPr>
        <p:txBody>
          <a:bodyPr wrap="square" lIns="0" tIns="0" rIns="0" bIns="0" anchor="ctr">
            <a:spAutoFit/>
          </a:bodyPr>
          <a:lstStyle/>
          <a:p>
            <a:pPr algn="l"/>
            <a:r>
              <a:rPr sz="1200" b="1" i="0">
                <a:solidFill>
                  <a:srgbClr val="2E1B5B"/>
                </a:solidFill>
                <a:latin typeface="Calibri"/>
              </a:rPr>
              <a:t>Health records: </a:t>
            </a:r>
            <a:r>
              <a:rPr sz="1200" b="1" i="0">
                <a:solidFill>
                  <a:srgbClr val="E8639F"/>
                </a:solidFill>
                <a:latin typeface="Georgia"/>
              </a:rPr>
              <a:t>25 + 5 &gt; 15</a:t>
            </a:r>
          </a:p>
          <a:p>
            <a:pPr algn="l"/>
            <a:r>
              <a:rPr sz="1200" b="0" i="0">
                <a:solidFill>
                  <a:srgbClr val="2E1B5B"/>
                </a:solidFill>
                <a:latin typeface="Calibri"/>
              </a:rPr>
              <a:t>Already 15 years late. Start now.</a:t>
            </a:r>
          </a:p>
        </p:txBody>
      </p:sp>
      <p:sp>
        <p:nvSpPr>
          <p:cNvPr id="40" name="Objective tile"/>
          <p:cNvSpPr/>
          <p:nvPr/>
        </p:nvSpPr>
        <p:spPr>
          <a:xfrm>
            <a:off x="4572000" y="1901952"/>
            <a:ext cx="1828800" cy="548640"/>
          </a:xfrm>
          <a:prstGeom prst="roundRect">
            <a:avLst>
              <a:gd name="adj" fmla="val 2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Icon bg FiDatabase"/>
          <p:cNvSpPr/>
          <p:nvPr/>
        </p:nvSpPr>
        <p:spPr>
          <a:xfrm>
            <a:off x="4663440" y="1993392"/>
            <a:ext cx="365760" cy="365760"/>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2" name="Icon FiDatabase" descr="FiDatabase_w.png"/>
          <p:cNvPicPr>
            <a:picLocks noChangeAspect="1"/>
          </p:cNvPicPr>
          <p:nvPr/>
        </p:nvPicPr>
        <p:blipFill>
          <a:blip r:embed="rId3"/>
          <a:stretch>
            <a:fillRect/>
          </a:stretch>
        </p:blipFill>
        <p:spPr>
          <a:xfrm>
            <a:off x="4743907" y="2073859"/>
            <a:ext cx="204825" cy="204825"/>
          </a:xfrm>
          <a:prstGeom prst="rect">
            <a:avLst/>
          </a:prstGeom>
        </p:spPr>
      </p:pic>
      <p:sp>
        <p:nvSpPr>
          <p:cNvPr id="43" name="Text"/>
          <p:cNvSpPr txBox="1"/>
          <p:nvPr/>
        </p:nvSpPr>
        <p:spPr>
          <a:xfrm>
            <a:off x="5120640" y="1901952"/>
            <a:ext cx="1234440" cy="548640"/>
          </a:xfrm>
          <a:prstGeom prst="rect">
            <a:avLst/>
          </a:prstGeom>
          <a:noFill/>
        </p:spPr>
        <p:txBody>
          <a:bodyPr wrap="square" lIns="0" tIns="0" rIns="0" bIns="0" anchor="ctr">
            <a:spAutoFit/>
          </a:bodyPr>
          <a:lstStyle/>
          <a:p>
            <a:pPr algn="l"/>
            <a:r>
              <a:rPr sz="1050" b="1" i="0">
                <a:solidFill>
                  <a:srgbClr val="5B3BA8"/>
                </a:solidFill>
                <a:latin typeface="Calibri"/>
              </a:rPr>
              <a:t>Map </a:t>
            </a:r>
            <a:r>
              <a:rPr sz="1050" b="0" i="0">
                <a:solidFill>
                  <a:srgbClr val="2E1B5B"/>
                </a:solidFill>
                <a:latin typeface="Calibri"/>
              </a:rPr>
              <a:t>every algorithm</a:t>
            </a:r>
          </a:p>
        </p:txBody>
      </p:sp>
      <p:sp>
        <p:nvSpPr>
          <p:cNvPr id="44" name="Objective tile"/>
          <p:cNvSpPr/>
          <p:nvPr/>
        </p:nvSpPr>
        <p:spPr>
          <a:xfrm>
            <a:off x="6537960" y="1901952"/>
            <a:ext cx="1828800" cy="548640"/>
          </a:xfrm>
          <a:prstGeom prst="roundRect">
            <a:avLst>
              <a:gd name="adj" fmla="val 2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Icon bg FiTarget"/>
          <p:cNvSpPr/>
          <p:nvPr/>
        </p:nvSpPr>
        <p:spPr>
          <a:xfrm>
            <a:off x="6629400" y="1993392"/>
            <a:ext cx="365760" cy="365760"/>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6" name="Icon FiTarget" descr="FiTarget_w.png"/>
          <p:cNvPicPr>
            <a:picLocks noChangeAspect="1"/>
          </p:cNvPicPr>
          <p:nvPr/>
        </p:nvPicPr>
        <p:blipFill>
          <a:blip r:embed="rId4"/>
          <a:stretch>
            <a:fillRect/>
          </a:stretch>
        </p:blipFill>
        <p:spPr>
          <a:xfrm>
            <a:off x="6709867" y="2073859"/>
            <a:ext cx="204825" cy="204825"/>
          </a:xfrm>
          <a:prstGeom prst="rect">
            <a:avLst/>
          </a:prstGeom>
        </p:spPr>
      </p:pic>
      <p:sp>
        <p:nvSpPr>
          <p:cNvPr id="47" name="Text"/>
          <p:cNvSpPr txBox="1"/>
          <p:nvPr/>
        </p:nvSpPr>
        <p:spPr>
          <a:xfrm>
            <a:off x="7086600" y="1901952"/>
            <a:ext cx="1234440" cy="548640"/>
          </a:xfrm>
          <a:prstGeom prst="rect">
            <a:avLst/>
          </a:prstGeom>
          <a:noFill/>
        </p:spPr>
        <p:txBody>
          <a:bodyPr wrap="square" lIns="0" tIns="0" rIns="0" bIns="0" anchor="ctr">
            <a:spAutoFit/>
          </a:bodyPr>
          <a:lstStyle/>
          <a:p>
            <a:pPr algn="l"/>
            <a:r>
              <a:rPr sz="1050" b="1" i="0">
                <a:solidFill>
                  <a:srgbClr val="5B3BA8"/>
                </a:solidFill>
                <a:latin typeface="Calibri"/>
              </a:rPr>
              <a:t>Rank </a:t>
            </a:r>
            <a:r>
              <a:rPr sz="1050" b="0" i="0">
                <a:solidFill>
                  <a:srgbClr val="2E1B5B"/>
                </a:solidFill>
                <a:latin typeface="Calibri"/>
              </a:rPr>
              <a:t>by real risk</a:t>
            </a:r>
          </a:p>
        </p:txBody>
      </p:sp>
      <p:sp>
        <p:nvSpPr>
          <p:cNvPr id="48" name="Objective tile"/>
          <p:cNvSpPr/>
          <p:nvPr/>
        </p:nvSpPr>
        <p:spPr>
          <a:xfrm>
            <a:off x="4572000" y="2560320"/>
            <a:ext cx="1828800" cy="548640"/>
          </a:xfrm>
          <a:prstGeom prst="roundRect">
            <a:avLst>
              <a:gd name="adj" fmla="val 2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Icon bg FiEye"/>
          <p:cNvSpPr/>
          <p:nvPr/>
        </p:nvSpPr>
        <p:spPr>
          <a:xfrm>
            <a:off x="4663440" y="2651760"/>
            <a:ext cx="365760" cy="365760"/>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0" name="Icon FiEye" descr="FiEye_w.png"/>
          <p:cNvPicPr>
            <a:picLocks noChangeAspect="1"/>
          </p:cNvPicPr>
          <p:nvPr/>
        </p:nvPicPr>
        <p:blipFill>
          <a:blip r:embed="rId5"/>
          <a:stretch>
            <a:fillRect/>
          </a:stretch>
        </p:blipFill>
        <p:spPr>
          <a:xfrm>
            <a:off x="4743907" y="2732227"/>
            <a:ext cx="204825" cy="204825"/>
          </a:xfrm>
          <a:prstGeom prst="rect">
            <a:avLst/>
          </a:prstGeom>
        </p:spPr>
      </p:pic>
      <p:sp>
        <p:nvSpPr>
          <p:cNvPr id="51" name="Text"/>
          <p:cNvSpPr txBox="1"/>
          <p:nvPr/>
        </p:nvSpPr>
        <p:spPr>
          <a:xfrm>
            <a:off x="5120640" y="2560320"/>
            <a:ext cx="1234440" cy="548640"/>
          </a:xfrm>
          <a:prstGeom prst="rect">
            <a:avLst/>
          </a:prstGeom>
          <a:noFill/>
        </p:spPr>
        <p:txBody>
          <a:bodyPr wrap="square" lIns="0" tIns="0" rIns="0" bIns="0" anchor="ctr">
            <a:spAutoFit/>
          </a:bodyPr>
          <a:lstStyle/>
          <a:p>
            <a:pPr algn="l"/>
            <a:r>
              <a:rPr sz="1050" b="1" i="0">
                <a:solidFill>
                  <a:srgbClr val="5B3BA8"/>
                </a:solidFill>
                <a:latin typeface="Calibri"/>
              </a:rPr>
              <a:t>Show </a:t>
            </a:r>
            <a:r>
              <a:rPr sz="1050" b="0" i="0">
                <a:solidFill>
                  <a:srgbClr val="2E1B5B"/>
                </a:solidFill>
                <a:latin typeface="Calibri"/>
              </a:rPr>
              <a:t>Eve being caught</a:t>
            </a:r>
          </a:p>
        </p:txBody>
      </p:sp>
      <p:sp>
        <p:nvSpPr>
          <p:cNvPr id="52" name="Objective tile"/>
          <p:cNvSpPr/>
          <p:nvPr/>
        </p:nvSpPr>
        <p:spPr>
          <a:xfrm>
            <a:off x="6537960" y="2560320"/>
            <a:ext cx="1828800" cy="548640"/>
          </a:xfrm>
          <a:prstGeom prst="roundRect">
            <a:avLst>
              <a:gd name="adj" fmla="val 2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Icon bg FiMap"/>
          <p:cNvSpPr/>
          <p:nvPr/>
        </p:nvSpPr>
        <p:spPr>
          <a:xfrm>
            <a:off x="6629400" y="2651760"/>
            <a:ext cx="365760" cy="365760"/>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4" name="Icon FiMap" descr="FiMap_w.png"/>
          <p:cNvPicPr>
            <a:picLocks noChangeAspect="1"/>
          </p:cNvPicPr>
          <p:nvPr/>
        </p:nvPicPr>
        <p:blipFill>
          <a:blip r:embed="rId6"/>
          <a:stretch>
            <a:fillRect/>
          </a:stretch>
        </p:blipFill>
        <p:spPr>
          <a:xfrm>
            <a:off x="6709867" y="2732227"/>
            <a:ext cx="204825" cy="204825"/>
          </a:xfrm>
          <a:prstGeom prst="rect">
            <a:avLst/>
          </a:prstGeom>
        </p:spPr>
      </p:pic>
      <p:sp>
        <p:nvSpPr>
          <p:cNvPr id="55" name="Text"/>
          <p:cNvSpPr txBox="1"/>
          <p:nvPr/>
        </p:nvSpPr>
        <p:spPr>
          <a:xfrm>
            <a:off x="7086600" y="2560320"/>
            <a:ext cx="1234440" cy="548640"/>
          </a:xfrm>
          <a:prstGeom prst="rect">
            <a:avLst/>
          </a:prstGeom>
          <a:noFill/>
        </p:spPr>
        <p:txBody>
          <a:bodyPr wrap="square" lIns="0" tIns="0" rIns="0" bIns="0" anchor="ctr">
            <a:spAutoFit/>
          </a:bodyPr>
          <a:lstStyle/>
          <a:p>
            <a:pPr algn="l"/>
            <a:r>
              <a:rPr sz="1050" b="1" i="0">
                <a:solidFill>
                  <a:srgbClr val="5B3BA8"/>
                </a:solidFill>
                <a:latin typeface="Calibri"/>
              </a:rPr>
              <a:t>Plan </a:t>
            </a:r>
            <a:r>
              <a:rPr sz="1050" b="0" i="0">
                <a:solidFill>
                  <a:srgbClr val="2E1B5B"/>
                </a:solidFill>
                <a:latin typeface="Calibri"/>
              </a:rPr>
              <a:t>a 5-phase roadmap</a:t>
            </a:r>
          </a:p>
        </p:txBody>
      </p:sp>
      <p:sp>
        <p:nvSpPr>
          <p:cNvPr id="56" name="Text"/>
          <p:cNvSpPr txBox="1"/>
          <p:nvPr/>
        </p:nvSpPr>
        <p:spPr>
          <a:xfrm>
            <a:off x="4572000" y="3291840"/>
            <a:ext cx="3840480" cy="228600"/>
          </a:xfrm>
          <a:prstGeom prst="rect">
            <a:avLst/>
          </a:prstGeom>
          <a:noFill/>
        </p:spPr>
        <p:txBody>
          <a:bodyPr wrap="square" lIns="0" tIns="0" rIns="0" bIns="0" anchor="t">
            <a:spAutoFit/>
          </a:bodyPr>
          <a:lstStyle/>
          <a:p>
            <a:pPr algn="l"/>
            <a:r>
              <a:rPr sz="1100" b="1" i="0" dirty="0">
                <a:solidFill>
                  <a:srgbClr val="E8639F"/>
                </a:solidFill>
                <a:latin typeface="Calibri"/>
              </a:rPr>
              <a:t>What's different</a:t>
            </a:r>
          </a:p>
        </p:txBody>
      </p:sp>
      <p:pic>
        <p:nvPicPr>
          <p:cNvPr id="57" name="Check" descr="FiCheckCircle_d.png"/>
          <p:cNvPicPr>
            <a:picLocks noChangeAspect="1"/>
          </p:cNvPicPr>
          <p:nvPr/>
        </p:nvPicPr>
        <p:blipFill>
          <a:blip r:embed="rId7"/>
          <a:stretch>
            <a:fillRect/>
          </a:stretch>
        </p:blipFill>
        <p:spPr>
          <a:xfrm>
            <a:off x="4572000" y="3584448"/>
            <a:ext cx="201168" cy="201168"/>
          </a:xfrm>
          <a:prstGeom prst="rect">
            <a:avLst/>
          </a:prstGeom>
        </p:spPr>
      </p:pic>
      <p:sp>
        <p:nvSpPr>
          <p:cNvPr id="58" name="Text"/>
          <p:cNvSpPr txBox="1"/>
          <p:nvPr/>
        </p:nvSpPr>
        <p:spPr>
          <a:xfrm>
            <a:off x="4864608" y="3566160"/>
            <a:ext cx="3566160" cy="256032"/>
          </a:xfrm>
          <a:prstGeom prst="rect">
            <a:avLst/>
          </a:prstGeom>
          <a:noFill/>
        </p:spPr>
        <p:txBody>
          <a:bodyPr wrap="square" lIns="0" tIns="0" rIns="0" bIns="0" anchor="ctr">
            <a:spAutoFit/>
          </a:bodyPr>
          <a:lstStyle/>
          <a:p>
            <a:pPr algn="l"/>
            <a:r>
              <a:rPr sz="1050" b="0" i="0">
                <a:solidFill>
                  <a:srgbClr val="2E1B5B"/>
                </a:solidFill>
                <a:latin typeface="Calibri"/>
              </a:rPr>
              <a:t>Unknown crypto is never scored as safe</a:t>
            </a:r>
          </a:p>
        </p:txBody>
      </p:sp>
      <p:pic>
        <p:nvPicPr>
          <p:cNvPr id="59" name="Check" descr="FiCheckCircle_d.png"/>
          <p:cNvPicPr>
            <a:picLocks noChangeAspect="1"/>
          </p:cNvPicPr>
          <p:nvPr/>
        </p:nvPicPr>
        <p:blipFill>
          <a:blip r:embed="rId7"/>
          <a:stretch>
            <a:fillRect/>
          </a:stretch>
        </p:blipFill>
        <p:spPr>
          <a:xfrm>
            <a:off x="4572000" y="3886199"/>
            <a:ext cx="201168" cy="201168"/>
          </a:xfrm>
          <a:prstGeom prst="rect">
            <a:avLst/>
          </a:prstGeom>
        </p:spPr>
      </p:pic>
      <p:sp>
        <p:nvSpPr>
          <p:cNvPr id="60" name="Text"/>
          <p:cNvSpPr txBox="1"/>
          <p:nvPr/>
        </p:nvSpPr>
        <p:spPr>
          <a:xfrm>
            <a:off x="4864608" y="3867911"/>
            <a:ext cx="3566160" cy="256032"/>
          </a:xfrm>
          <a:prstGeom prst="rect">
            <a:avLst/>
          </a:prstGeom>
          <a:noFill/>
        </p:spPr>
        <p:txBody>
          <a:bodyPr wrap="square" lIns="0" tIns="0" rIns="0" bIns="0" anchor="ctr">
            <a:spAutoFit/>
          </a:bodyPr>
          <a:lstStyle/>
          <a:p>
            <a:pPr algn="l"/>
            <a:r>
              <a:rPr sz="1050" b="0" i="0">
                <a:solidFill>
                  <a:srgbClr val="2E1B5B"/>
                </a:solidFill>
                <a:latin typeface="Calibri"/>
              </a:rPr>
              <a:t>Forward secrecy ≠ quantum-safe</a:t>
            </a:r>
          </a:p>
        </p:txBody>
      </p:sp>
      <p:pic>
        <p:nvPicPr>
          <p:cNvPr id="61" name="Check" descr="FiCheckCircle_d.png"/>
          <p:cNvPicPr>
            <a:picLocks noChangeAspect="1"/>
          </p:cNvPicPr>
          <p:nvPr/>
        </p:nvPicPr>
        <p:blipFill>
          <a:blip r:embed="rId7"/>
          <a:stretch>
            <a:fillRect/>
          </a:stretch>
        </p:blipFill>
        <p:spPr>
          <a:xfrm>
            <a:off x="4572000" y="4187951"/>
            <a:ext cx="201168" cy="201168"/>
          </a:xfrm>
          <a:prstGeom prst="rect">
            <a:avLst/>
          </a:prstGeom>
        </p:spPr>
      </p:pic>
      <p:sp>
        <p:nvSpPr>
          <p:cNvPr id="62" name="Text"/>
          <p:cNvSpPr txBox="1"/>
          <p:nvPr/>
        </p:nvSpPr>
        <p:spPr>
          <a:xfrm>
            <a:off x="4864608" y="4169663"/>
            <a:ext cx="3566160" cy="256032"/>
          </a:xfrm>
          <a:prstGeom prst="rect">
            <a:avLst/>
          </a:prstGeom>
          <a:noFill/>
        </p:spPr>
        <p:txBody>
          <a:bodyPr wrap="square" lIns="0" tIns="0" rIns="0" bIns="0" anchor="ctr">
            <a:spAutoFit/>
          </a:bodyPr>
          <a:lstStyle/>
          <a:p>
            <a:pPr algn="l"/>
            <a:r>
              <a:rPr sz="1050" b="0" i="0">
                <a:solidFill>
                  <a:srgbClr val="2E1B5B"/>
                </a:solidFill>
                <a:latin typeface="Calibri"/>
              </a:rPr>
              <a:t>Z is a slider, never a prediction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5B3BA8"/>
          </a:solidFill>
          <a:ln w="12700">
            <a:solidFill>
              <a:srgbClr val="5B3BA8"/>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sp>
        <p:nvSpPr>
          <p:cNvPr id="26" name="Layer card"/>
          <p:cNvSpPr/>
          <p:nvPr/>
        </p:nvSpPr>
        <p:spPr>
          <a:xfrm>
            <a:off x="685800" y="1847088"/>
            <a:ext cx="2240280" cy="1005840"/>
          </a:xfrm>
          <a:prstGeom prst="roundRect">
            <a:avLst>
              <a:gd name="adj" fmla="val 10909"/>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Icon bg FiSearch"/>
          <p:cNvSpPr/>
          <p:nvPr/>
        </p:nvSpPr>
        <p:spPr>
          <a:xfrm>
            <a:off x="822960" y="2075688"/>
            <a:ext cx="548640" cy="548640"/>
          </a:xfrm>
          <a:prstGeom prst="ellipse">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Icon FiSearch" descr="FiSearch_w.png"/>
          <p:cNvPicPr>
            <a:picLocks noChangeAspect="1"/>
          </p:cNvPicPr>
          <p:nvPr/>
        </p:nvPicPr>
        <p:blipFill>
          <a:blip r:embed="rId3"/>
          <a:stretch>
            <a:fillRect/>
          </a:stretch>
        </p:blipFill>
        <p:spPr>
          <a:xfrm>
            <a:off x="943660" y="2196388"/>
            <a:ext cx="307238" cy="307238"/>
          </a:xfrm>
          <a:prstGeom prst="rect">
            <a:avLst/>
          </a:prstGeom>
        </p:spPr>
      </p:pic>
      <p:sp>
        <p:nvSpPr>
          <p:cNvPr id="29" name="Text"/>
          <p:cNvSpPr txBox="1"/>
          <p:nvPr/>
        </p:nvSpPr>
        <p:spPr>
          <a:xfrm>
            <a:off x="1490472" y="1984248"/>
            <a:ext cx="1371600" cy="215444"/>
          </a:xfrm>
          <a:prstGeom prst="rect">
            <a:avLst/>
          </a:prstGeom>
          <a:noFill/>
        </p:spPr>
        <p:txBody>
          <a:bodyPr wrap="square" lIns="0" tIns="0" rIns="0" bIns="0" anchor="t">
            <a:spAutoFit/>
          </a:bodyPr>
          <a:lstStyle/>
          <a:p>
            <a:pPr algn="l"/>
            <a:r>
              <a:rPr sz="1400" b="1" i="0" dirty="0">
                <a:solidFill>
                  <a:srgbClr val="7C93F0"/>
                </a:solidFill>
                <a:latin typeface="Calibri"/>
              </a:rPr>
              <a:t>01 DISCOVER</a:t>
            </a:r>
          </a:p>
        </p:txBody>
      </p:sp>
      <p:sp>
        <p:nvSpPr>
          <p:cNvPr id="30" name="Text"/>
          <p:cNvSpPr txBox="1"/>
          <p:nvPr/>
        </p:nvSpPr>
        <p:spPr>
          <a:xfrm>
            <a:off x="1490472" y="2258568"/>
            <a:ext cx="1417320" cy="369332"/>
          </a:xfrm>
          <a:prstGeom prst="rect">
            <a:avLst/>
          </a:prstGeom>
          <a:noFill/>
        </p:spPr>
        <p:txBody>
          <a:bodyPr wrap="square" lIns="0" tIns="0" rIns="0" bIns="0" anchor="t">
            <a:spAutoFit/>
          </a:bodyPr>
          <a:lstStyle/>
          <a:p>
            <a:pPr algn="l"/>
            <a:r>
              <a:rPr sz="1200" b="0" i="0" dirty="0">
                <a:solidFill>
                  <a:srgbClr val="2E1B5B"/>
                </a:solidFill>
                <a:latin typeface="Calibri"/>
              </a:rPr>
              <a:t>Crypto inventory,</a:t>
            </a:r>
          </a:p>
          <a:p>
            <a:pPr algn="l"/>
            <a:r>
              <a:rPr lang="en-US" sz="1200" dirty="0">
                <a:solidFill>
                  <a:srgbClr val="2E1B5B"/>
                </a:solidFill>
                <a:latin typeface="Calibri"/>
              </a:rPr>
              <a:t>C</a:t>
            </a:r>
            <a:r>
              <a:rPr sz="1200" b="0" i="0" dirty="0">
                <a:solidFill>
                  <a:srgbClr val="2E1B5B"/>
                </a:solidFill>
                <a:latin typeface="Calibri"/>
              </a:rPr>
              <a:t>lassified by role</a:t>
            </a:r>
          </a:p>
        </p:txBody>
      </p:sp>
      <p:sp>
        <p:nvSpPr>
          <p:cNvPr id="31" name="Arrow"/>
          <p:cNvSpPr/>
          <p:nvPr/>
        </p:nvSpPr>
        <p:spPr>
          <a:xfrm>
            <a:off x="2990088" y="2249424"/>
            <a:ext cx="329184" cy="201168"/>
          </a:xfrm>
          <a:prstGeom prst="rightArrow">
            <a:avLst/>
          </a:prstGeom>
          <a:solidFill>
            <a:srgbClr val="B8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Layer card"/>
          <p:cNvSpPr/>
          <p:nvPr/>
        </p:nvSpPr>
        <p:spPr>
          <a:xfrm>
            <a:off x="3383280" y="1847088"/>
            <a:ext cx="2240280" cy="1005840"/>
          </a:xfrm>
          <a:prstGeom prst="roundRect">
            <a:avLst>
              <a:gd name="adj" fmla="val 10909"/>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Icon bg FiSliders"/>
          <p:cNvSpPr/>
          <p:nvPr/>
        </p:nvSpPr>
        <p:spPr>
          <a:xfrm>
            <a:off x="3520440" y="2075688"/>
            <a:ext cx="548640" cy="548640"/>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Icon FiSliders" descr="FiSliders_w.png"/>
          <p:cNvPicPr>
            <a:picLocks noChangeAspect="1"/>
          </p:cNvPicPr>
          <p:nvPr/>
        </p:nvPicPr>
        <p:blipFill>
          <a:blip r:embed="rId4"/>
          <a:stretch>
            <a:fillRect/>
          </a:stretch>
        </p:blipFill>
        <p:spPr>
          <a:xfrm>
            <a:off x="3641140" y="2196388"/>
            <a:ext cx="307238" cy="307238"/>
          </a:xfrm>
          <a:prstGeom prst="rect">
            <a:avLst/>
          </a:prstGeom>
        </p:spPr>
      </p:pic>
      <p:sp>
        <p:nvSpPr>
          <p:cNvPr id="35" name="Text"/>
          <p:cNvSpPr txBox="1"/>
          <p:nvPr/>
        </p:nvSpPr>
        <p:spPr>
          <a:xfrm>
            <a:off x="4187952" y="1984248"/>
            <a:ext cx="1371600" cy="215444"/>
          </a:xfrm>
          <a:prstGeom prst="rect">
            <a:avLst/>
          </a:prstGeom>
          <a:noFill/>
        </p:spPr>
        <p:txBody>
          <a:bodyPr wrap="square" lIns="0" tIns="0" rIns="0" bIns="0" anchor="t">
            <a:spAutoFit/>
          </a:bodyPr>
          <a:lstStyle/>
          <a:p>
            <a:pPr algn="l"/>
            <a:r>
              <a:rPr sz="1400" b="1" i="0" dirty="0">
                <a:solidFill>
                  <a:srgbClr val="5B3BA8"/>
                </a:solidFill>
                <a:latin typeface="Calibri"/>
              </a:rPr>
              <a:t>02 DECIDE</a:t>
            </a:r>
          </a:p>
        </p:txBody>
      </p:sp>
      <p:sp>
        <p:nvSpPr>
          <p:cNvPr id="36" name="Text"/>
          <p:cNvSpPr txBox="1"/>
          <p:nvPr/>
        </p:nvSpPr>
        <p:spPr>
          <a:xfrm>
            <a:off x="4187952" y="2258568"/>
            <a:ext cx="1417320" cy="369332"/>
          </a:xfrm>
          <a:prstGeom prst="rect">
            <a:avLst/>
          </a:prstGeom>
          <a:noFill/>
        </p:spPr>
        <p:txBody>
          <a:bodyPr wrap="square" lIns="0" tIns="0" rIns="0" bIns="0" anchor="t">
            <a:spAutoFit/>
          </a:bodyPr>
          <a:lstStyle/>
          <a:p>
            <a:pPr algn="l"/>
            <a:r>
              <a:rPr sz="1200" b="0" i="0" dirty="0">
                <a:solidFill>
                  <a:srgbClr val="2E1B5B"/>
                </a:solidFill>
                <a:latin typeface="Calibri"/>
              </a:rPr>
              <a:t>Mosca + </a:t>
            </a:r>
            <a:r>
              <a:rPr lang="en-US" sz="1200" b="0" i="0" dirty="0">
                <a:solidFill>
                  <a:srgbClr val="2E1B5B"/>
                </a:solidFill>
                <a:latin typeface="Calibri"/>
              </a:rPr>
              <a:t>R</a:t>
            </a:r>
            <a:r>
              <a:rPr sz="1200" b="0" i="0" dirty="0">
                <a:solidFill>
                  <a:srgbClr val="2E1B5B"/>
                </a:solidFill>
                <a:latin typeface="Calibri"/>
              </a:rPr>
              <a:t>isk </a:t>
            </a:r>
            <a:r>
              <a:rPr lang="en-US" sz="1200" dirty="0">
                <a:solidFill>
                  <a:srgbClr val="2E1B5B"/>
                </a:solidFill>
                <a:latin typeface="Calibri"/>
              </a:rPr>
              <a:t>S</a:t>
            </a:r>
            <a:r>
              <a:rPr sz="1200" b="0" i="0" dirty="0">
                <a:solidFill>
                  <a:srgbClr val="2E1B5B"/>
                </a:solidFill>
                <a:latin typeface="Calibri"/>
              </a:rPr>
              <a:t>core</a:t>
            </a:r>
          </a:p>
          <a:p>
            <a:pPr algn="l"/>
            <a:r>
              <a:rPr sz="1200" b="0" i="0" dirty="0">
                <a:solidFill>
                  <a:srgbClr val="2E1B5B"/>
                </a:solidFill>
                <a:latin typeface="Calibri"/>
              </a:rPr>
              <a:t>with a live Z </a:t>
            </a:r>
            <a:r>
              <a:rPr lang="en-US" sz="1200" b="0" i="0" dirty="0">
                <a:solidFill>
                  <a:srgbClr val="2E1B5B"/>
                </a:solidFill>
                <a:latin typeface="Calibri"/>
              </a:rPr>
              <a:t>S</a:t>
            </a:r>
            <a:r>
              <a:rPr sz="1200" b="0" i="0" dirty="0">
                <a:solidFill>
                  <a:srgbClr val="2E1B5B"/>
                </a:solidFill>
                <a:latin typeface="Calibri"/>
              </a:rPr>
              <a:t>lider</a:t>
            </a:r>
          </a:p>
        </p:txBody>
      </p:sp>
      <p:sp>
        <p:nvSpPr>
          <p:cNvPr id="37" name="Arrow"/>
          <p:cNvSpPr/>
          <p:nvPr/>
        </p:nvSpPr>
        <p:spPr>
          <a:xfrm>
            <a:off x="5687568" y="2249424"/>
            <a:ext cx="329184" cy="201168"/>
          </a:xfrm>
          <a:prstGeom prst="rightArrow">
            <a:avLst/>
          </a:prstGeom>
          <a:solidFill>
            <a:srgbClr val="B8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Layer card"/>
          <p:cNvSpPr/>
          <p:nvPr/>
        </p:nvSpPr>
        <p:spPr>
          <a:xfrm>
            <a:off x="6080760" y="1847088"/>
            <a:ext cx="2240280" cy="1005840"/>
          </a:xfrm>
          <a:prstGeom prst="roundRect">
            <a:avLst>
              <a:gd name="adj" fmla="val 10909"/>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Icon bg FiCpu"/>
          <p:cNvSpPr/>
          <p:nvPr/>
        </p:nvSpPr>
        <p:spPr>
          <a:xfrm>
            <a:off x="6217920" y="2075688"/>
            <a:ext cx="548640" cy="54864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Icon FiCpu" descr="FiCpu_w.png"/>
          <p:cNvPicPr>
            <a:picLocks noChangeAspect="1"/>
          </p:cNvPicPr>
          <p:nvPr/>
        </p:nvPicPr>
        <p:blipFill>
          <a:blip r:embed="rId5"/>
          <a:stretch>
            <a:fillRect/>
          </a:stretch>
        </p:blipFill>
        <p:spPr>
          <a:xfrm>
            <a:off x="6338620" y="2196388"/>
            <a:ext cx="307238" cy="307238"/>
          </a:xfrm>
          <a:prstGeom prst="rect">
            <a:avLst/>
          </a:prstGeom>
        </p:spPr>
      </p:pic>
      <p:sp>
        <p:nvSpPr>
          <p:cNvPr id="41" name="Text"/>
          <p:cNvSpPr txBox="1"/>
          <p:nvPr/>
        </p:nvSpPr>
        <p:spPr>
          <a:xfrm>
            <a:off x="6885432" y="1984248"/>
            <a:ext cx="1371600" cy="215444"/>
          </a:xfrm>
          <a:prstGeom prst="rect">
            <a:avLst/>
          </a:prstGeom>
          <a:noFill/>
        </p:spPr>
        <p:txBody>
          <a:bodyPr wrap="square" lIns="0" tIns="0" rIns="0" bIns="0" anchor="t">
            <a:spAutoFit/>
          </a:bodyPr>
          <a:lstStyle/>
          <a:p>
            <a:pPr algn="l"/>
            <a:r>
              <a:rPr sz="1400" b="1" i="0" dirty="0">
                <a:solidFill>
                  <a:srgbClr val="E8639F"/>
                </a:solidFill>
                <a:latin typeface="Calibri"/>
              </a:rPr>
              <a:t>03 DEMONSTRATE</a:t>
            </a:r>
          </a:p>
        </p:txBody>
      </p:sp>
      <p:sp>
        <p:nvSpPr>
          <p:cNvPr id="42" name="Text"/>
          <p:cNvSpPr txBox="1"/>
          <p:nvPr/>
        </p:nvSpPr>
        <p:spPr>
          <a:xfrm>
            <a:off x="6885432" y="2258568"/>
            <a:ext cx="1417320" cy="369332"/>
          </a:xfrm>
          <a:prstGeom prst="rect">
            <a:avLst/>
          </a:prstGeom>
          <a:noFill/>
        </p:spPr>
        <p:txBody>
          <a:bodyPr wrap="square" lIns="0" tIns="0" rIns="0" bIns="0" anchor="t">
            <a:spAutoFit/>
          </a:bodyPr>
          <a:lstStyle/>
          <a:p>
            <a:pPr algn="l"/>
            <a:r>
              <a:rPr sz="1200" b="0" i="0" dirty="0">
                <a:solidFill>
                  <a:srgbClr val="2E1B5B"/>
                </a:solidFill>
                <a:latin typeface="Calibri"/>
              </a:rPr>
              <a:t>BB84 on </a:t>
            </a:r>
            <a:r>
              <a:rPr sz="1200" b="0" i="0" dirty="0" err="1">
                <a:solidFill>
                  <a:srgbClr val="2E1B5B"/>
                </a:solidFill>
                <a:latin typeface="Calibri"/>
              </a:rPr>
              <a:t>Qiskit</a:t>
            </a:r>
            <a:r>
              <a:rPr sz="1200" b="0" i="0" dirty="0">
                <a:solidFill>
                  <a:srgbClr val="2E1B5B"/>
                </a:solidFill>
                <a:latin typeface="Calibri"/>
              </a:rPr>
              <a:t> Aer</a:t>
            </a:r>
          </a:p>
          <a:p>
            <a:pPr algn="l"/>
            <a:r>
              <a:rPr sz="1200" b="0" i="0" dirty="0">
                <a:solidFill>
                  <a:srgbClr val="2E1B5B"/>
                </a:solidFill>
                <a:latin typeface="Calibri"/>
              </a:rPr>
              <a:t>with an </a:t>
            </a:r>
            <a:r>
              <a:rPr lang="en-US" sz="1200" b="0" i="0" dirty="0">
                <a:solidFill>
                  <a:srgbClr val="2E1B5B"/>
                </a:solidFill>
                <a:latin typeface="Calibri"/>
              </a:rPr>
              <a:t>E</a:t>
            </a:r>
            <a:r>
              <a:rPr sz="1200" b="0" i="0" dirty="0">
                <a:solidFill>
                  <a:srgbClr val="2E1B5B"/>
                </a:solidFill>
                <a:latin typeface="Calibri"/>
              </a:rPr>
              <a:t>avesdropper</a:t>
            </a:r>
          </a:p>
        </p:txBody>
      </p:sp>
      <p:sp>
        <p:nvSpPr>
          <p:cNvPr id="43" name="Text"/>
          <p:cNvSpPr txBox="1"/>
          <p:nvPr/>
        </p:nvSpPr>
        <p:spPr>
          <a:xfrm>
            <a:off x="685800" y="2985066"/>
            <a:ext cx="3931920" cy="246221"/>
          </a:xfrm>
          <a:prstGeom prst="rect">
            <a:avLst/>
          </a:prstGeom>
          <a:noFill/>
        </p:spPr>
        <p:txBody>
          <a:bodyPr wrap="square" lIns="0" tIns="0" rIns="0" bIns="0" anchor="t">
            <a:spAutoFit/>
          </a:bodyPr>
          <a:lstStyle/>
          <a:p>
            <a:pPr algn="l"/>
            <a:r>
              <a:rPr sz="1600" b="1" i="0" dirty="0">
                <a:solidFill>
                  <a:srgbClr val="5B3BA8"/>
                </a:solidFill>
                <a:latin typeface="Calibri"/>
              </a:rPr>
              <a:t>Where quantum genuinely helps</a:t>
            </a:r>
          </a:p>
        </p:txBody>
      </p:sp>
      <p:sp>
        <p:nvSpPr>
          <p:cNvPr id="44" name="QBER no Eve"/>
          <p:cNvSpPr/>
          <p:nvPr/>
        </p:nvSpPr>
        <p:spPr>
          <a:xfrm>
            <a:off x="685800" y="3291840"/>
            <a:ext cx="1234440" cy="1097280"/>
          </a:xfrm>
          <a:prstGeom prst="roundRect">
            <a:avLst>
              <a:gd name="adj" fmla="val 1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
          <p:cNvSpPr txBox="1"/>
          <p:nvPr/>
        </p:nvSpPr>
        <p:spPr>
          <a:xfrm>
            <a:off x="685800" y="3337560"/>
            <a:ext cx="1234440" cy="548640"/>
          </a:xfrm>
          <a:prstGeom prst="rect">
            <a:avLst/>
          </a:prstGeom>
          <a:noFill/>
        </p:spPr>
        <p:txBody>
          <a:bodyPr wrap="square" lIns="0" tIns="0" rIns="0" bIns="0" anchor="ctr">
            <a:spAutoFit/>
          </a:bodyPr>
          <a:lstStyle/>
          <a:p>
            <a:pPr algn="ctr"/>
            <a:r>
              <a:rPr sz="2800" b="1" i="0">
                <a:solidFill>
                  <a:srgbClr val="1F9D6B"/>
                </a:solidFill>
                <a:latin typeface="Georgia"/>
              </a:rPr>
              <a:t>0%</a:t>
            </a:r>
          </a:p>
        </p:txBody>
      </p:sp>
      <p:sp>
        <p:nvSpPr>
          <p:cNvPr id="46" name="Text"/>
          <p:cNvSpPr txBox="1"/>
          <p:nvPr/>
        </p:nvSpPr>
        <p:spPr>
          <a:xfrm>
            <a:off x="685800" y="3886200"/>
            <a:ext cx="1234440" cy="369332"/>
          </a:xfrm>
          <a:prstGeom prst="rect">
            <a:avLst/>
          </a:prstGeom>
          <a:noFill/>
        </p:spPr>
        <p:txBody>
          <a:bodyPr wrap="square" lIns="0" tIns="0" rIns="0" bIns="0" anchor="t">
            <a:spAutoFit/>
          </a:bodyPr>
          <a:lstStyle/>
          <a:p>
            <a:pPr algn="ctr"/>
            <a:r>
              <a:rPr lang="en-US" sz="1200" dirty="0">
                <a:solidFill>
                  <a:srgbClr val="6F7399"/>
                </a:solidFill>
                <a:latin typeface="Calibri"/>
              </a:rPr>
              <a:t>E</a:t>
            </a:r>
            <a:r>
              <a:rPr sz="1200" b="0" i="0" dirty="0">
                <a:solidFill>
                  <a:srgbClr val="6F7399"/>
                </a:solidFill>
                <a:latin typeface="Calibri"/>
              </a:rPr>
              <a:t>rror rate,</a:t>
            </a:r>
          </a:p>
          <a:p>
            <a:pPr algn="ctr"/>
            <a:r>
              <a:rPr lang="en-US" sz="1200" dirty="0">
                <a:solidFill>
                  <a:srgbClr val="6F7399"/>
                </a:solidFill>
                <a:latin typeface="Calibri"/>
              </a:rPr>
              <a:t>N</a:t>
            </a:r>
            <a:r>
              <a:rPr sz="1200" b="0" i="0" dirty="0">
                <a:solidFill>
                  <a:srgbClr val="6F7399"/>
                </a:solidFill>
                <a:latin typeface="Calibri"/>
              </a:rPr>
              <a:t>o spy</a:t>
            </a:r>
          </a:p>
        </p:txBody>
      </p:sp>
      <p:sp>
        <p:nvSpPr>
          <p:cNvPr id="47" name="Arrow"/>
          <p:cNvSpPr/>
          <p:nvPr/>
        </p:nvSpPr>
        <p:spPr>
          <a:xfrm>
            <a:off x="1993391" y="3730752"/>
            <a:ext cx="365760" cy="201168"/>
          </a:xfrm>
          <a:prstGeom prst="rightArrow">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QBER Eve"/>
          <p:cNvSpPr/>
          <p:nvPr/>
        </p:nvSpPr>
        <p:spPr>
          <a:xfrm>
            <a:off x="2441448" y="3291840"/>
            <a:ext cx="1234440" cy="1097280"/>
          </a:xfrm>
          <a:prstGeom prst="roundRect">
            <a:avLst>
              <a:gd name="adj" fmla="val 10000"/>
            </a:avLst>
          </a:prstGeom>
          <a:solidFill>
            <a:srgbClr val="FCE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p:cNvSpPr txBox="1"/>
          <p:nvPr/>
        </p:nvSpPr>
        <p:spPr>
          <a:xfrm>
            <a:off x="2441448" y="3337560"/>
            <a:ext cx="1234440" cy="548640"/>
          </a:xfrm>
          <a:prstGeom prst="rect">
            <a:avLst/>
          </a:prstGeom>
          <a:noFill/>
        </p:spPr>
        <p:txBody>
          <a:bodyPr wrap="square" lIns="0" tIns="0" rIns="0" bIns="0" anchor="ctr">
            <a:spAutoFit/>
          </a:bodyPr>
          <a:lstStyle/>
          <a:p>
            <a:pPr algn="ctr"/>
            <a:r>
              <a:rPr sz="2800" b="1" i="0">
                <a:solidFill>
                  <a:srgbClr val="E8639F"/>
                </a:solidFill>
                <a:latin typeface="Georgia"/>
              </a:rPr>
              <a:t>~25%</a:t>
            </a:r>
          </a:p>
        </p:txBody>
      </p:sp>
      <p:sp>
        <p:nvSpPr>
          <p:cNvPr id="50" name="Text"/>
          <p:cNvSpPr txBox="1"/>
          <p:nvPr/>
        </p:nvSpPr>
        <p:spPr>
          <a:xfrm>
            <a:off x="2441448" y="3886200"/>
            <a:ext cx="1234440" cy="369332"/>
          </a:xfrm>
          <a:prstGeom prst="rect">
            <a:avLst/>
          </a:prstGeom>
          <a:noFill/>
        </p:spPr>
        <p:txBody>
          <a:bodyPr wrap="square" lIns="0" tIns="0" rIns="0" bIns="0" anchor="t">
            <a:spAutoFit/>
          </a:bodyPr>
          <a:lstStyle/>
          <a:p>
            <a:pPr algn="ctr"/>
            <a:r>
              <a:rPr lang="en-US" sz="1200" b="0" i="0" dirty="0">
                <a:solidFill>
                  <a:srgbClr val="6F7399"/>
                </a:solidFill>
                <a:latin typeface="Calibri"/>
              </a:rPr>
              <a:t>E</a:t>
            </a:r>
            <a:r>
              <a:rPr sz="1200" b="0" i="0" dirty="0">
                <a:solidFill>
                  <a:srgbClr val="6F7399"/>
                </a:solidFill>
                <a:latin typeface="Calibri"/>
              </a:rPr>
              <a:t>rror rate,</a:t>
            </a:r>
          </a:p>
          <a:p>
            <a:pPr algn="ctr"/>
            <a:r>
              <a:rPr lang="en-US" sz="1200" dirty="0">
                <a:solidFill>
                  <a:srgbClr val="6F7399"/>
                </a:solidFill>
                <a:latin typeface="Calibri"/>
              </a:rPr>
              <a:t>S</a:t>
            </a:r>
            <a:r>
              <a:rPr sz="1200" b="0" i="0" dirty="0">
                <a:solidFill>
                  <a:srgbClr val="6F7399"/>
                </a:solidFill>
                <a:latin typeface="Calibri"/>
              </a:rPr>
              <a:t>py on the line</a:t>
            </a:r>
          </a:p>
        </p:txBody>
      </p:sp>
      <p:sp>
        <p:nvSpPr>
          <p:cNvPr id="51" name="Text"/>
          <p:cNvSpPr txBox="1"/>
          <p:nvPr/>
        </p:nvSpPr>
        <p:spPr>
          <a:xfrm>
            <a:off x="3794760" y="3471148"/>
            <a:ext cx="1005840" cy="738664"/>
          </a:xfrm>
          <a:prstGeom prst="rect">
            <a:avLst/>
          </a:prstGeom>
          <a:noFill/>
        </p:spPr>
        <p:txBody>
          <a:bodyPr wrap="square" lIns="0" tIns="0" rIns="0" bIns="0" anchor="ctr">
            <a:spAutoFit/>
          </a:bodyPr>
          <a:lstStyle/>
          <a:p>
            <a:pPr algn="l"/>
            <a:r>
              <a:rPr sz="1200" b="0" i="1" dirty="0">
                <a:solidFill>
                  <a:srgbClr val="2E1B5B"/>
                </a:solidFill>
                <a:latin typeface="Calibri"/>
              </a:rPr>
              <a:t>Measuring disturbs the photon: </a:t>
            </a:r>
            <a:r>
              <a:rPr lang="en-US" sz="1200" b="0" i="1" dirty="0">
                <a:solidFill>
                  <a:srgbClr val="2E1B5B"/>
                </a:solidFill>
                <a:latin typeface="Calibri"/>
              </a:rPr>
              <a:t>P</a:t>
            </a:r>
            <a:r>
              <a:rPr sz="1200" b="0" i="1" dirty="0">
                <a:solidFill>
                  <a:srgbClr val="2E1B5B"/>
                </a:solidFill>
                <a:latin typeface="Calibri"/>
              </a:rPr>
              <a:t>hysics exposes Eve.</a:t>
            </a:r>
          </a:p>
        </p:txBody>
      </p:sp>
      <p:sp>
        <p:nvSpPr>
          <p:cNvPr id="52" name="Text"/>
          <p:cNvSpPr txBox="1"/>
          <p:nvPr/>
        </p:nvSpPr>
        <p:spPr>
          <a:xfrm>
            <a:off x="5257800" y="2985066"/>
            <a:ext cx="3200400" cy="246221"/>
          </a:xfrm>
          <a:prstGeom prst="rect">
            <a:avLst/>
          </a:prstGeom>
          <a:noFill/>
        </p:spPr>
        <p:txBody>
          <a:bodyPr wrap="square" lIns="0" tIns="0" rIns="0" bIns="0" anchor="t">
            <a:spAutoFit/>
          </a:bodyPr>
          <a:lstStyle/>
          <a:p>
            <a:pPr algn="l"/>
            <a:r>
              <a:rPr sz="1600" b="1" i="0" dirty="0">
                <a:solidFill>
                  <a:srgbClr val="5B3BA8"/>
                </a:solidFill>
                <a:latin typeface="Calibri"/>
              </a:rPr>
              <a:t>Where it doesn't</a:t>
            </a:r>
          </a:p>
        </p:txBody>
      </p:sp>
      <p:sp>
        <p:nvSpPr>
          <p:cNvPr id="53" name="QKD fit"/>
          <p:cNvSpPr/>
          <p:nvPr/>
        </p:nvSpPr>
        <p:spPr>
          <a:xfrm>
            <a:off x="5257800" y="3291840"/>
            <a:ext cx="3200400" cy="1097280"/>
          </a:xfrm>
          <a:prstGeom prst="roundRect">
            <a:avLst>
              <a:gd name="adj" fmla="val 1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p:cNvSpPr txBox="1"/>
          <p:nvPr/>
        </p:nvSpPr>
        <p:spPr>
          <a:xfrm>
            <a:off x="5394960" y="3291840"/>
            <a:ext cx="1234440" cy="1097280"/>
          </a:xfrm>
          <a:prstGeom prst="rect">
            <a:avLst/>
          </a:prstGeom>
          <a:noFill/>
        </p:spPr>
        <p:txBody>
          <a:bodyPr wrap="square" lIns="0" tIns="0" rIns="0" bIns="0" anchor="ctr">
            <a:spAutoFit/>
          </a:bodyPr>
          <a:lstStyle/>
          <a:p>
            <a:pPr algn="l"/>
            <a:r>
              <a:rPr sz="2800" b="1" i="0">
                <a:solidFill>
                  <a:srgbClr val="5B3BA8"/>
                </a:solidFill>
                <a:latin typeface="Georgia"/>
              </a:rPr>
              <a:t>1 / 13</a:t>
            </a:r>
          </a:p>
        </p:txBody>
      </p:sp>
      <p:sp>
        <p:nvSpPr>
          <p:cNvPr id="55" name="Text"/>
          <p:cNvSpPr txBox="1"/>
          <p:nvPr/>
        </p:nvSpPr>
        <p:spPr>
          <a:xfrm>
            <a:off x="6583680" y="3409593"/>
            <a:ext cx="1783080" cy="861774"/>
          </a:xfrm>
          <a:prstGeom prst="rect">
            <a:avLst/>
          </a:prstGeom>
          <a:noFill/>
        </p:spPr>
        <p:txBody>
          <a:bodyPr wrap="square" lIns="0" tIns="0" rIns="0" bIns="0" anchor="ctr">
            <a:spAutoFit/>
          </a:bodyPr>
          <a:lstStyle/>
          <a:p>
            <a:pPr algn="l"/>
            <a:r>
              <a:rPr lang="en-US" sz="1400" dirty="0">
                <a:solidFill>
                  <a:srgbClr val="2E1B5B"/>
                </a:solidFill>
                <a:latin typeface="Calibri"/>
              </a:rPr>
              <a:t>As</a:t>
            </a:r>
            <a:r>
              <a:rPr sz="1400" b="0" i="0" dirty="0">
                <a:solidFill>
                  <a:srgbClr val="2E1B5B"/>
                </a:solidFill>
                <a:latin typeface="Calibri"/>
              </a:rPr>
              <a:t>sets justify QKD: one dedicated </a:t>
            </a:r>
            <a:r>
              <a:rPr sz="1400" b="0" i="0" dirty="0" err="1">
                <a:solidFill>
                  <a:srgbClr val="2E1B5B"/>
                </a:solidFill>
                <a:latin typeface="Calibri"/>
              </a:rPr>
              <a:t>fibre</a:t>
            </a:r>
            <a:r>
              <a:rPr sz="1400" b="0" i="0" dirty="0">
                <a:solidFill>
                  <a:srgbClr val="2E1B5B"/>
                </a:solidFill>
                <a:latin typeface="Calibri"/>
              </a:rPr>
              <a:t> link. The rest need </a:t>
            </a:r>
            <a:r>
              <a:rPr lang="en-US" sz="1400" b="0" i="0" dirty="0">
                <a:solidFill>
                  <a:srgbClr val="2E1B5B"/>
                </a:solidFill>
                <a:latin typeface="Calibri"/>
              </a:rPr>
              <a:t>P</a:t>
            </a:r>
            <a:r>
              <a:rPr sz="1400" b="0" i="0" dirty="0">
                <a:solidFill>
                  <a:srgbClr val="2E1B5B"/>
                </a:solidFill>
                <a:latin typeface="Calibri"/>
              </a:rPr>
              <a:t>ost-</a:t>
            </a:r>
            <a:r>
              <a:rPr lang="en-US" sz="1400" b="0" i="0" dirty="0">
                <a:solidFill>
                  <a:srgbClr val="2E1B5B"/>
                </a:solidFill>
                <a:latin typeface="Calibri"/>
              </a:rPr>
              <a:t>Q</a:t>
            </a:r>
            <a:r>
              <a:rPr sz="1400" b="0" i="0" dirty="0">
                <a:solidFill>
                  <a:srgbClr val="2E1B5B"/>
                </a:solidFill>
                <a:latin typeface="Calibri"/>
              </a:rPr>
              <a:t>uantum </a:t>
            </a:r>
            <a:r>
              <a:rPr lang="en-US" sz="1400" dirty="0">
                <a:solidFill>
                  <a:srgbClr val="2E1B5B"/>
                </a:solidFill>
                <a:latin typeface="Calibri"/>
              </a:rPr>
              <a:t>C</a:t>
            </a:r>
            <a:r>
              <a:rPr sz="1400" b="0" i="0" dirty="0">
                <a:solidFill>
                  <a:srgbClr val="2E1B5B"/>
                </a:solidFill>
                <a:latin typeface="Calibri"/>
              </a:rPr>
              <a:t>rypto first.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 &amp; Circuit Design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Insert area"/>
          <p:cNvSpPr/>
          <p:nvPr/>
        </p:nvSpPr>
        <p:spPr>
          <a:xfrm>
            <a:off x="457200" y="1691640"/>
            <a:ext cx="4937760" cy="2926080"/>
          </a:xfrm>
          <a:prstGeom prst="roundRect">
            <a:avLst>
              <a:gd name="adj" fmla="val 2500"/>
            </a:avLst>
          </a:prstGeom>
          <a:solidFill>
            <a:srgbClr val="FFFFFF"/>
          </a:solidFill>
          <a:ln w="15875">
            <a:solidFill>
              <a:srgbClr val="B8BDEB"/>
            </a:solidFill>
            <a:prstDash val="solid"/>
          </a:ln>
        </p:spPr>
        <p:txBody>
          <a:bodyPr/>
          <a:lstStyle/>
          <a:p>
            <a:endParaRPr lang="en-IN"/>
          </a:p>
        </p:txBody>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p:cNvSpPr/>
          <p:nvPr/>
        </p:nvSpPr>
        <p:spPr>
          <a:xfrm>
            <a:off x="580644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sp>
        <p:nvSpPr>
          <p:cNvPr id="26" name="Chip"/>
          <p:cNvSpPr/>
          <p:nvPr/>
        </p:nvSpPr>
        <p:spPr>
          <a:xfrm>
            <a:off x="1340510" y="1874519"/>
            <a:ext cx="699515" cy="246888"/>
          </a:xfrm>
          <a:prstGeom prst="roundRect">
            <a:avLst>
              <a:gd name="adj" fmla="val 50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
          <p:cNvSpPr txBox="1"/>
          <p:nvPr/>
        </p:nvSpPr>
        <p:spPr>
          <a:xfrm>
            <a:off x="1413662" y="1874519"/>
            <a:ext cx="553211" cy="246888"/>
          </a:xfrm>
          <a:prstGeom prst="rect">
            <a:avLst/>
          </a:prstGeom>
          <a:noFill/>
        </p:spPr>
        <p:txBody>
          <a:bodyPr wrap="square" lIns="0" tIns="0" rIns="0" bIns="0" anchor="ctr">
            <a:spAutoFit/>
          </a:bodyPr>
          <a:lstStyle/>
          <a:p>
            <a:pPr algn="ctr"/>
            <a:r>
              <a:rPr sz="850" b="1" i="0">
                <a:solidFill>
                  <a:srgbClr val="FFFFFF"/>
                </a:solidFill>
                <a:latin typeface="Calibri"/>
              </a:rPr>
              <a:t>ALICE</a:t>
            </a:r>
          </a:p>
        </p:txBody>
      </p:sp>
      <p:sp>
        <p:nvSpPr>
          <p:cNvPr id="28" name="Chip"/>
          <p:cNvSpPr/>
          <p:nvPr/>
        </p:nvSpPr>
        <p:spPr>
          <a:xfrm>
            <a:off x="2273198" y="1874519"/>
            <a:ext cx="1375714" cy="246888"/>
          </a:xfrm>
          <a:prstGeom prst="roundRect">
            <a:avLst>
              <a:gd name="adj" fmla="val 50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
          <p:cNvSpPr txBox="1"/>
          <p:nvPr/>
        </p:nvSpPr>
        <p:spPr>
          <a:xfrm>
            <a:off x="2346350" y="1874519"/>
            <a:ext cx="1229410" cy="246888"/>
          </a:xfrm>
          <a:prstGeom prst="rect">
            <a:avLst/>
          </a:prstGeom>
          <a:noFill/>
        </p:spPr>
        <p:txBody>
          <a:bodyPr wrap="square" lIns="0" tIns="0" rIns="0" bIns="0" anchor="ctr">
            <a:spAutoFit/>
          </a:bodyPr>
          <a:lstStyle/>
          <a:p>
            <a:pPr algn="ctr"/>
            <a:r>
              <a:rPr sz="850" b="1" i="0">
                <a:solidFill>
                  <a:srgbClr val="FFFFFF"/>
                </a:solidFill>
                <a:latin typeface="Calibri"/>
              </a:rPr>
              <a:t>EVE intercepts &amp; resends</a:t>
            </a:r>
          </a:p>
        </p:txBody>
      </p:sp>
      <p:sp>
        <p:nvSpPr>
          <p:cNvPr id="30" name="Chip"/>
          <p:cNvSpPr/>
          <p:nvPr/>
        </p:nvSpPr>
        <p:spPr>
          <a:xfrm>
            <a:off x="3882085" y="1874519"/>
            <a:ext cx="582930" cy="246888"/>
          </a:xfrm>
          <a:prstGeom prst="roundRect">
            <a:avLst>
              <a:gd name="adj" fmla="val 50000"/>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
          <p:cNvSpPr txBox="1"/>
          <p:nvPr/>
        </p:nvSpPr>
        <p:spPr>
          <a:xfrm>
            <a:off x="3955237" y="1874519"/>
            <a:ext cx="436625" cy="246888"/>
          </a:xfrm>
          <a:prstGeom prst="rect">
            <a:avLst/>
          </a:prstGeom>
          <a:noFill/>
        </p:spPr>
        <p:txBody>
          <a:bodyPr wrap="square" lIns="0" tIns="0" rIns="0" bIns="0" anchor="ctr">
            <a:spAutoFit/>
          </a:bodyPr>
          <a:lstStyle/>
          <a:p>
            <a:pPr algn="ctr"/>
            <a:r>
              <a:rPr sz="850" b="1" i="0">
                <a:solidFill>
                  <a:srgbClr val="FFFFFF"/>
                </a:solidFill>
                <a:latin typeface="Calibri"/>
              </a:rPr>
              <a:t>CHANNEL</a:t>
            </a:r>
          </a:p>
        </p:txBody>
      </p:sp>
      <p:sp>
        <p:nvSpPr>
          <p:cNvPr id="32" name="Chip"/>
          <p:cNvSpPr/>
          <p:nvPr/>
        </p:nvSpPr>
        <p:spPr>
          <a:xfrm>
            <a:off x="4534966" y="1874519"/>
            <a:ext cx="652881" cy="246888"/>
          </a:xfrm>
          <a:prstGeom prst="roundRect">
            <a:avLst>
              <a:gd name="adj" fmla="val 50000"/>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
          <p:cNvSpPr txBox="1"/>
          <p:nvPr/>
        </p:nvSpPr>
        <p:spPr>
          <a:xfrm>
            <a:off x="4608118" y="1874519"/>
            <a:ext cx="506577" cy="246888"/>
          </a:xfrm>
          <a:prstGeom prst="rect">
            <a:avLst/>
          </a:prstGeom>
          <a:noFill/>
        </p:spPr>
        <p:txBody>
          <a:bodyPr wrap="square" lIns="0" tIns="0" rIns="0" bIns="0" anchor="ctr">
            <a:spAutoFit/>
          </a:bodyPr>
          <a:lstStyle/>
          <a:p>
            <a:pPr algn="ctr"/>
            <a:r>
              <a:rPr sz="850" b="1" i="0">
                <a:solidFill>
                  <a:srgbClr val="FFFFFF"/>
                </a:solidFill>
                <a:latin typeface="Calibri"/>
              </a:rPr>
              <a:t>BOB</a:t>
            </a:r>
          </a:p>
        </p:txBody>
      </p:sp>
      <p:pic>
        <p:nvPicPr>
          <p:cNvPr id="34" name="BB84 circuit" descr="circuit.png"/>
          <p:cNvPicPr>
            <a:picLocks noChangeAspect="1"/>
          </p:cNvPicPr>
          <p:nvPr/>
        </p:nvPicPr>
        <p:blipFill>
          <a:blip r:embed="rId3"/>
          <a:stretch>
            <a:fillRect/>
          </a:stretch>
        </p:blipFill>
        <p:spPr>
          <a:xfrm>
            <a:off x="594360" y="2212848"/>
            <a:ext cx="4663440" cy="1486348"/>
          </a:xfrm>
          <a:prstGeom prst="rect">
            <a:avLst/>
          </a:prstGeom>
        </p:spPr>
      </p:pic>
      <p:sp>
        <p:nvSpPr>
          <p:cNvPr id="35" name="Circuit caption"/>
          <p:cNvSpPr/>
          <p:nvPr/>
        </p:nvSpPr>
        <p:spPr>
          <a:xfrm>
            <a:off x="685800" y="3840480"/>
            <a:ext cx="4572000" cy="621792"/>
          </a:xfrm>
          <a:prstGeom prst="roundRect">
            <a:avLst>
              <a:gd name="adj" fmla="val 17647"/>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
          <p:cNvSpPr txBox="1"/>
          <p:nvPr/>
        </p:nvSpPr>
        <p:spPr>
          <a:xfrm>
            <a:off x="822960" y="3874377"/>
            <a:ext cx="4343400" cy="553998"/>
          </a:xfrm>
          <a:prstGeom prst="rect">
            <a:avLst/>
          </a:prstGeom>
          <a:noFill/>
        </p:spPr>
        <p:txBody>
          <a:bodyPr wrap="square" lIns="0" tIns="0" rIns="0" bIns="0" anchor="ctr">
            <a:spAutoFit/>
          </a:bodyPr>
          <a:lstStyle/>
          <a:p>
            <a:pPr algn="l"/>
            <a:r>
              <a:rPr sz="1200" b="0" i="0" dirty="0">
                <a:solidFill>
                  <a:srgbClr val="2E1B5B"/>
                </a:solidFill>
                <a:latin typeface="Calibri"/>
              </a:rPr>
              <a:t>One qubit, built by </a:t>
            </a:r>
            <a:r>
              <a:rPr sz="1200" b="1" i="0" dirty="0">
                <a:solidFill>
                  <a:srgbClr val="5B3BA8"/>
                </a:solidFill>
                <a:latin typeface="Courier New"/>
              </a:rPr>
              <a:t>bb84_circuit()</a:t>
            </a:r>
            <a:r>
              <a:rPr sz="1200" b="0" i="0" dirty="0">
                <a:solidFill>
                  <a:srgbClr val="2E1B5B"/>
                </a:solidFill>
                <a:latin typeface="Calibri"/>
              </a:rPr>
              <a:t>: Alice sends |1⟩ in the X basis; Eve measures in Z and resends. Run 2,048× per experiment on Aer.</a:t>
            </a:r>
          </a:p>
        </p:txBody>
      </p:sp>
      <p:sp>
        <p:nvSpPr>
          <p:cNvPr id="37" name="Text"/>
          <p:cNvSpPr txBox="1"/>
          <p:nvPr/>
        </p:nvSpPr>
        <p:spPr>
          <a:xfrm>
            <a:off x="5806440" y="1874519"/>
            <a:ext cx="2743200" cy="215444"/>
          </a:xfrm>
          <a:prstGeom prst="rect">
            <a:avLst/>
          </a:prstGeom>
          <a:noFill/>
        </p:spPr>
        <p:txBody>
          <a:bodyPr wrap="square" lIns="0" tIns="0" rIns="0" bIns="0" anchor="t">
            <a:spAutoFit/>
          </a:bodyPr>
          <a:lstStyle/>
          <a:p>
            <a:pPr algn="l"/>
            <a:r>
              <a:rPr sz="1400" b="1" i="0" dirty="0">
                <a:solidFill>
                  <a:srgbClr val="5B3BA8"/>
                </a:solidFill>
                <a:latin typeface="Georgia"/>
              </a:rPr>
              <a:t>From photons to a key</a:t>
            </a:r>
          </a:p>
        </p:txBody>
      </p:sp>
      <p:sp>
        <p:nvSpPr>
          <p:cNvPr id="38" name="Text"/>
          <p:cNvSpPr txBox="1"/>
          <p:nvPr/>
        </p:nvSpPr>
        <p:spPr>
          <a:xfrm>
            <a:off x="5806440" y="2240280"/>
            <a:ext cx="1828800" cy="182880"/>
          </a:xfrm>
          <a:prstGeom prst="rect">
            <a:avLst/>
          </a:prstGeom>
          <a:noFill/>
        </p:spPr>
        <p:txBody>
          <a:bodyPr wrap="square" lIns="0" tIns="0" rIns="0" bIns="0" anchor="t">
            <a:spAutoFit/>
          </a:bodyPr>
          <a:lstStyle/>
          <a:p>
            <a:pPr algn="l"/>
            <a:r>
              <a:rPr sz="900" b="0" i="0">
                <a:solidFill>
                  <a:srgbClr val="6F7399"/>
                </a:solidFill>
                <a:latin typeface="Calibri"/>
              </a:rPr>
              <a:t>Sent</a:t>
            </a:r>
          </a:p>
        </p:txBody>
      </p:sp>
      <p:sp>
        <p:nvSpPr>
          <p:cNvPr id="39" name="Funnel bar"/>
          <p:cNvSpPr/>
          <p:nvPr/>
        </p:nvSpPr>
        <p:spPr>
          <a:xfrm>
            <a:off x="5806440" y="2432304"/>
            <a:ext cx="2057400" cy="182880"/>
          </a:xfrm>
          <a:prstGeom prst="roundRect">
            <a:avLst>
              <a:gd name="adj" fmla="val 25000"/>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
          <p:cNvSpPr txBox="1"/>
          <p:nvPr/>
        </p:nvSpPr>
        <p:spPr>
          <a:xfrm>
            <a:off x="7936992" y="2395728"/>
            <a:ext cx="640080" cy="256032"/>
          </a:xfrm>
          <a:prstGeom prst="rect">
            <a:avLst/>
          </a:prstGeom>
          <a:noFill/>
        </p:spPr>
        <p:txBody>
          <a:bodyPr wrap="square" lIns="0" tIns="0" rIns="0" bIns="0" anchor="t">
            <a:spAutoFit/>
          </a:bodyPr>
          <a:lstStyle/>
          <a:p>
            <a:pPr algn="l"/>
            <a:r>
              <a:rPr sz="1000" b="1" i="0">
                <a:solidFill>
                  <a:srgbClr val="2E1B5B"/>
                </a:solidFill>
                <a:latin typeface="Calibri"/>
              </a:rPr>
              <a:t>2,048</a:t>
            </a:r>
          </a:p>
        </p:txBody>
      </p:sp>
      <p:sp>
        <p:nvSpPr>
          <p:cNvPr id="41" name="Text"/>
          <p:cNvSpPr txBox="1"/>
          <p:nvPr/>
        </p:nvSpPr>
        <p:spPr>
          <a:xfrm>
            <a:off x="5806440" y="2697480"/>
            <a:ext cx="1828800" cy="182880"/>
          </a:xfrm>
          <a:prstGeom prst="rect">
            <a:avLst/>
          </a:prstGeom>
          <a:noFill/>
        </p:spPr>
        <p:txBody>
          <a:bodyPr wrap="square" lIns="0" tIns="0" rIns="0" bIns="0" anchor="t">
            <a:spAutoFit/>
          </a:bodyPr>
          <a:lstStyle/>
          <a:p>
            <a:pPr algn="l"/>
            <a:r>
              <a:rPr sz="900" b="0" i="0" dirty="0">
                <a:solidFill>
                  <a:srgbClr val="6F7399"/>
                </a:solidFill>
                <a:latin typeface="Calibri"/>
              </a:rPr>
              <a:t>Sifted (bases match)</a:t>
            </a:r>
          </a:p>
        </p:txBody>
      </p:sp>
      <p:sp>
        <p:nvSpPr>
          <p:cNvPr id="42" name="Funnel bar"/>
          <p:cNvSpPr/>
          <p:nvPr/>
        </p:nvSpPr>
        <p:spPr>
          <a:xfrm>
            <a:off x="5806440" y="2889504"/>
            <a:ext cx="1028700" cy="182880"/>
          </a:xfrm>
          <a:prstGeom prst="roundRect">
            <a:avLst>
              <a:gd name="adj" fmla="val 25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
          <p:cNvSpPr txBox="1"/>
          <p:nvPr/>
        </p:nvSpPr>
        <p:spPr>
          <a:xfrm>
            <a:off x="6908292" y="2852928"/>
            <a:ext cx="640080" cy="256032"/>
          </a:xfrm>
          <a:prstGeom prst="rect">
            <a:avLst/>
          </a:prstGeom>
          <a:noFill/>
        </p:spPr>
        <p:txBody>
          <a:bodyPr wrap="square" lIns="0" tIns="0" rIns="0" bIns="0" anchor="t">
            <a:spAutoFit/>
          </a:bodyPr>
          <a:lstStyle/>
          <a:p>
            <a:pPr algn="l"/>
            <a:r>
              <a:rPr sz="1000" b="1" i="0">
                <a:solidFill>
                  <a:srgbClr val="2E1B5B"/>
                </a:solidFill>
                <a:latin typeface="Calibri"/>
              </a:rPr>
              <a:t>1,024</a:t>
            </a:r>
          </a:p>
        </p:txBody>
      </p:sp>
      <p:sp>
        <p:nvSpPr>
          <p:cNvPr id="44" name="Text"/>
          <p:cNvSpPr txBox="1"/>
          <p:nvPr/>
        </p:nvSpPr>
        <p:spPr>
          <a:xfrm>
            <a:off x="5806440" y="3154680"/>
            <a:ext cx="1828800" cy="182880"/>
          </a:xfrm>
          <a:prstGeom prst="rect">
            <a:avLst/>
          </a:prstGeom>
          <a:noFill/>
        </p:spPr>
        <p:txBody>
          <a:bodyPr wrap="square" lIns="0" tIns="0" rIns="0" bIns="0" anchor="t">
            <a:spAutoFit/>
          </a:bodyPr>
          <a:lstStyle/>
          <a:p>
            <a:pPr algn="l"/>
            <a:r>
              <a:rPr sz="900" b="0" i="0">
                <a:solidFill>
                  <a:srgbClr val="6F7399"/>
                </a:solidFill>
                <a:latin typeface="Calibri"/>
              </a:rPr>
              <a:t>After error sample</a:t>
            </a:r>
          </a:p>
        </p:txBody>
      </p:sp>
      <p:sp>
        <p:nvSpPr>
          <p:cNvPr id="45" name="Funnel bar"/>
          <p:cNvSpPr/>
          <p:nvPr/>
        </p:nvSpPr>
        <p:spPr>
          <a:xfrm>
            <a:off x="5806440" y="3346704"/>
            <a:ext cx="771525" cy="182880"/>
          </a:xfrm>
          <a:prstGeom prst="roundRect">
            <a:avLst>
              <a:gd name="adj" fmla="val 25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
          <p:cNvSpPr txBox="1"/>
          <p:nvPr/>
        </p:nvSpPr>
        <p:spPr>
          <a:xfrm>
            <a:off x="6651117" y="3310128"/>
            <a:ext cx="640080" cy="256032"/>
          </a:xfrm>
          <a:prstGeom prst="rect">
            <a:avLst/>
          </a:prstGeom>
          <a:noFill/>
        </p:spPr>
        <p:txBody>
          <a:bodyPr wrap="square" lIns="0" tIns="0" rIns="0" bIns="0" anchor="t">
            <a:spAutoFit/>
          </a:bodyPr>
          <a:lstStyle/>
          <a:p>
            <a:pPr algn="l"/>
            <a:r>
              <a:rPr sz="1000" b="1" i="0">
                <a:solidFill>
                  <a:srgbClr val="2E1B5B"/>
                </a:solidFill>
                <a:latin typeface="Calibri"/>
              </a:rPr>
              <a:t>768</a:t>
            </a:r>
          </a:p>
        </p:txBody>
      </p:sp>
      <p:sp>
        <p:nvSpPr>
          <p:cNvPr id="47" name="Text"/>
          <p:cNvSpPr txBox="1"/>
          <p:nvPr/>
        </p:nvSpPr>
        <p:spPr>
          <a:xfrm>
            <a:off x="5806440" y="3611880"/>
            <a:ext cx="1828800" cy="182880"/>
          </a:xfrm>
          <a:prstGeom prst="rect">
            <a:avLst/>
          </a:prstGeom>
          <a:noFill/>
        </p:spPr>
        <p:txBody>
          <a:bodyPr wrap="square" lIns="0" tIns="0" rIns="0" bIns="0" anchor="t">
            <a:spAutoFit/>
          </a:bodyPr>
          <a:lstStyle/>
          <a:p>
            <a:pPr algn="l"/>
            <a:r>
              <a:rPr sz="900" b="0" i="0">
                <a:solidFill>
                  <a:srgbClr val="6F7399"/>
                </a:solidFill>
                <a:latin typeface="Calibri"/>
              </a:rPr>
              <a:t>Final secret key</a:t>
            </a:r>
          </a:p>
        </p:txBody>
      </p:sp>
      <p:sp>
        <p:nvSpPr>
          <p:cNvPr id="48" name="Funnel bar"/>
          <p:cNvSpPr/>
          <p:nvPr/>
        </p:nvSpPr>
        <p:spPr>
          <a:xfrm>
            <a:off x="5806440" y="3803904"/>
            <a:ext cx="445033" cy="182880"/>
          </a:xfrm>
          <a:prstGeom prst="roundRect">
            <a:avLst>
              <a:gd name="adj" fmla="val 25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
          <p:cNvSpPr txBox="1"/>
          <p:nvPr/>
        </p:nvSpPr>
        <p:spPr>
          <a:xfrm>
            <a:off x="6324625" y="3767328"/>
            <a:ext cx="640080" cy="256032"/>
          </a:xfrm>
          <a:prstGeom prst="rect">
            <a:avLst/>
          </a:prstGeom>
          <a:noFill/>
        </p:spPr>
        <p:txBody>
          <a:bodyPr wrap="square" lIns="0" tIns="0" rIns="0" bIns="0" anchor="t">
            <a:spAutoFit/>
          </a:bodyPr>
          <a:lstStyle/>
          <a:p>
            <a:pPr algn="l"/>
            <a:r>
              <a:rPr sz="1000" b="1" i="0">
                <a:solidFill>
                  <a:srgbClr val="2E1B5B"/>
                </a:solidFill>
                <a:latin typeface="Calibri"/>
              </a:rPr>
              <a:t>443</a:t>
            </a:r>
          </a:p>
        </p:txBody>
      </p:sp>
      <p:sp>
        <p:nvSpPr>
          <p:cNvPr id="50" name="Chip"/>
          <p:cNvSpPr/>
          <p:nvPr/>
        </p:nvSpPr>
        <p:spPr>
          <a:xfrm>
            <a:off x="5806440" y="4114800"/>
            <a:ext cx="2697480" cy="329184"/>
          </a:xfrm>
          <a:prstGeom prst="roundRect">
            <a:avLst>
              <a:gd name="adj" fmla="val 50000"/>
            </a:avLst>
          </a:prstGeom>
          <a:solidFill>
            <a:srgbClr val="FCE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
          <p:cNvSpPr txBox="1"/>
          <p:nvPr/>
        </p:nvSpPr>
        <p:spPr>
          <a:xfrm>
            <a:off x="5879592" y="4187059"/>
            <a:ext cx="2551176" cy="184666"/>
          </a:xfrm>
          <a:prstGeom prst="rect">
            <a:avLst/>
          </a:prstGeom>
          <a:noFill/>
        </p:spPr>
        <p:txBody>
          <a:bodyPr wrap="square" lIns="0" tIns="0" rIns="0" bIns="0" anchor="ctr">
            <a:spAutoFit/>
          </a:bodyPr>
          <a:lstStyle/>
          <a:p>
            <a:pPr algn="ctr"/>
            <a:r>
              <a:rPr sz="1200" b="1" i="0" dirty="0">
                <a:solidFill>
                  <a:srgbClr val="E8639F"/>
                </a:solidFill>
                <a:latin typeface="Calibri"/>
              </a:rPr>
              <a:t>Abort if QBER upper bound &gt;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sp>
        <p:nvSpPr>
          <p:cNvPr id="26" name="Arch box"/>
          <p:cNvSpPr/>
          <p:nvPr/>
        </p:nvSpPr>
        <p:spPr>
          <a:xfrm>
            <a:off x="685800" y="1892807"/>
            <a:ext cx="1115568" cy="1188720"/>
          </a:xfrm>
          <a:prstGeom prst="roundRect">
            <a:avLst>
              <a:gd name="adj" fmla="val 983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Icon bg FiLayers"/>
          <p:cNvSpPr/>
          <p:nvPr/>
        </p:nvSpPr>
        <p:spPr>
          <a:xfrm>
            <a:off x="1033271" y="1984248"/>
            <a:ext cx="420624" cy="420624"/>
          </a:xfrm>
          <a:prstGeom prst="ellipse">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Icon FiLayers" descr="FiLayers_w.png"/>
          <p:cNvPicPr>
            <a:picLocks noChangeAspect="1"/>
          </p:cNvPicPr>
          <p:nvPr/>
        </p:nvPicPr>
        <p:blipFill>
          <a:blip r:embed="rId3"/>
          <a:stretch>
            <a:fillRect/>
          </a:stretch>
        </p:blipFill>
        <p:spPr>
          <a:xfrm>
            <a:off x="1125809" y="2076785"/>
            <a:ext cx="235549" cy="235549"/>
          </a:xfrm>
          <a:prstGeom prst="rect">
            <a:avLst/>
          </a:prstGeom>
        </p:spPr>
      </p:pic>
      <p:sp>
        <p:nvSpPr>
          <p:cNvPr id="29" name="Text"/>
          <p:cNvSpPr txBox="1"/>
          <p:nvPr/>
        </p:nvSpPr>
        <p:spPr>
          <a:xfrm>
            <a:off x="685800" y="2450592"/>
            <a:ext cx="1115568" cy="169277"/>
          </a:xfrm>
          <a:prstGeom prst="rect">
            <a:avLst/>
          </a:prstGeom>
          <a:noFill/>
        </p:spPr>
        <p:txBody>
          <a:bodyPr wrap="square" lIns="0" tIns="0" rIns="0" bIns="0" anchor="t">
            <a:spAutoFit/>
          </a:bodyPr>
          <a:lstStyle/>
          <a:p>
            <a:pPr algn="ctr"/>
            <a:r>
              <a:rPr sz="1100" b="1" i="0" dirty="0">
                <a:solidFill>
                  <a:srgbClr val="7C93F0"/>
                </a:solidFill>
                <a:latin typeface="Calibri"/>
              </a:rPr>
              <a:t>React 19</a:t>
            </a:r>
          </a:p>
        </p:txBody>
      </p:sp>
      <p:sp>
        <p:nvSpPr>
          <p:cNvPr id="30" name="Text"/>
          <p:cNvSpPr txBox="1"/>
          <p:nvPr/>
        </p:nvSpPr>
        <p:spPr>
          <a:xfrm>
            <a:off x="685800" y="2651760"/>
            <a:ext cx="1115568" cy="338554"/>
          </a:xfrm>
          <a:prstGeom prst="rect">
            <a:avLst/>
          </a:prstGeom>
          <a:noFill/>
        </p:spPr>
        <p:txBody>
          <a:bodyPr wrap="square" lIns="0" tIns="0" rIns="0" bIns="0" anchor="t">
            <a:spAutoFit/>
          </a:bodyPr>
          <a:lstStyle/>
          <a:p>
            <a:pPr algn="ctr"/>
            <a:r>
              <a:rPr sz="1100" b="0" i="0" dirty="0">
                <a:solidFill>
                  <a:srgbClr val="2E1B5B"/>
                </a:solidFill>
                <a:latin typeface="Calibri"/>
              </a:rPr>
              <a:t>Vite · Tailwind</a:t>
            </a:r>
          </a:p>
          <a:p>
            <a:pPr algn="ctr"/>
            <a:r>
              <a:rPr sz="1100" b="0" i="0" dirty="0">
                <a:solidFill>
                  <a:srgbClr val="2E1B5B"/>
                </a:solidFill>
                <a:latin typeface="Calibri"/>
              </a:rPr>
              <a:t>Recharts</a:t>
            </a:r>
          </a:p>
        </p:txBody>
      </p:sp>
      <p:sp>
        <p:nvSpPr>
          <p:cNvPr id="31" name="Arrow"/>
          <p:cNvSpPr/>
          <p:nvPr/>
        </p:nvSpPr>
        <p:spPr>
          <a:xfrm>
            <a:off x="1819656" y="2395728"/>
            <a:ext cx="219456" cy="164592"/>
          </a:xfrm>
          <a:prstGeom prst="rightArrow">
            <a:avLst/>
          </a:prstGeom>
          <a:solidFill>
            <a:srgbClr val="B8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Arch box"/>
          <p:cNvSpPr/>
          <p:nvPr/>
        </p:nvSpPr>
        <p:spPr>
          <a:xfrm>
            <a:off x="2057400" y="1892807"/>
            <a:ext cx="1115568" cy="1188720"/>
          </a:xfrm>
          <a:prstGeom prst="roundRect">
            <a:avLst>
              <a:gd name="adj" fmla="val 983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Icon bg FiServer"/>
          <p:cNvSpPr/>
          <p:nvPr/>
        </p:nvSpPr>
        <p:spPr>
          <a:xfrm>
            <a:off x="2404872" y="1984248"/>
            <a:ext cx="420624" cy="420624"/>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Icon FiServer" descr="FiServer_w.png"/>
          <p:cNvPicPr>
            <a:picLocks noChangeAspect="1"/>
          </p:cNvPicPr>
          <p:nvPr/>
        </p:nvPicPr>
        <p:blipFill>
          <a:blip r:embed="rId4"/>
          <a:stretch>
            <a:fillRect/>
          </a:stretch>
        </p:blipFill>
        <p:spPr>
          <a:xfrm>
            <a:off x="2497409" y="2076785"/>
            <a:ext cx="235549" cy="235549"/>
          </a:xfrm>
          <a:prstGeom prst="rect">
            <a:avLst/>
          </a:prstGeom>
        </p:spPr>
      </p:pic>
      <p:sp>
        <p:nvSpPr>
          <p:cNvPr id="35" name="Text"/>
          <p:cNvSpPr txBox="1"/>
          <p:nvPr/>
        </p:nvSpPr>
        <p:spPr>
          <a:xfrm>
            <a:off x="2057400" y="2450592"/>
            <a:ext cx="1115568" cy="169277"/>
          </a:xfrm>
          <a:prstGeom prst="rect">
            <a:avLst/>
          </a:prstGeom>
          <a:noFill/>
        </p:spPr>
        <p:txBody>
          <a:bodyPr wrap="square" lIns="0" tIns="0" rIns="0" bIns="0" anchor="t">
            <a:spAutoFit/>
          </a:bodyPr>
          <a:lstStyle/>
          <a:p>
            <a:pPr algn="ctr"/>
            <a:r>
              <a:rPr sz="1100" b="1" i="0" dirty="0">
                <a:solidFill>
                  <a:srgbClr val="5B3BA8"/>
                </a:solidFill>
                <a:latin typeface="Calibri"/>
              </a:rPr>
              <a:t>Express API</a:t>
            </a:r>
          </a:p>
        </p:txBody>
      </p:sp>
      <p:sp>
        <p:nvSpPr>
          <p:cNvPr id="36" name="Text"/>
          <p:cNvSpPr txBox="1"/>
          <p:nvPr/>
        </p:nvSpPr>
        <p:spPr>
          <a:xfrm>
            <a:off x="2057400" y="2651760"/>
            <a:ext cx="1115568" cy="169277"/>
          </a:xfrm>
          <a:prstGeom prst="rect">
            <a:avLst/>
          </a:prstGeom>
          <a:noFill/>
        </p:spPr>
        <p:txBody>
          <a:bodyPr wrap="square" lIns="0" tIns="0" rIns="0" bIns="0" anchor="t">
            <a:spAutoFit/>
          </a:bodyPr>
          <a:lstStyle/>
          <a:p>
            <a:pPr algn="ctr"/>
            <a:r>
              <a:rPr sz="1100" b="0" i="0" dirty="0">
                <a:solidFill>
                  <a:srgbClr val="2E1B5B"/>
                </a:solidFill>
                <a:latin typeface="Calibri"/>
              </a:rPr>
              <a:t>Auth · rate limits</a:t>
            </a:r>
          </a:p>
        </p:txBody>
      </p:sp>
      <p:sp>
        <p:nvSpPr>
          <p:cNvPr id="37" name="Arrow"/>
          <p:cNvSpPr/>
          <p:nvPr/>
        </p:nvSpPr>
        <p:spPr>
          <a:xfrm>
            <a:off x="3191256" y="2395728"/>
            <a:ext cx="219456" cy="164592"/>
          </a:xfrm>
          <a:prstGeom prst="rightArrow">
            <a:avLst/>
          </a:prstGeom>
          <a:solidFill>
            <a:srgbClr val="B8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rch box"/>
          <p:cNvSpPr/>
          <p:nvPr/>
        </p:nvSpPr>
        <p:spPr>
          <a:xfrm>
            <a:off x="3429000" y="1892807"/>
            <a:ext cx="1115568" cy="1188720"/>
          </a:xfrm>
          <a:prstGeom prst="roundRect">
            <a:avLst>
              <a:gd name="adj" fmla="val 983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Icon bg FiCpu"/>
          <p:cNvSpPr/>
          <p:nvPr/>
        </p:nvSpPr>
        <p:spPr>
          <a:xfrm>
            <a:off x="3776472" y="1984248"/>
            <a:ext cx="420624" cy="420624"/>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Icon FiCpu" descr="FiCpu_w.png"/>
          <p:cNvPicPr>
            <a:picLocks noChangeAspect="1"/>
          </p:cNvPicPr>
          <p:nvPr/>
        </p:nvPicPr>
        <p:blipFill>
          <a:blip r:embed="rId5"/>
          <a:stretch>
            <a:fillRect/>
          </a:stretch>
        </p:blipFill>
        <p:spPr>
          <a:xfrm>
            <a:off x="3869009" y="2076785"/>
            <a:ext cx="235549" cy="235549"/>
          </a:xfrm>
          <a:prstGeom prst="rect">
            <a:avLst/>
          </a:prstGeom>
        </p:spPr>
      </p:pic>
      <p:sp>
        <p:nvSpPr>
          <p:cNvPr id="41" name="Text"/>
          <p:cNvSpPr txBox="1"/>
          <p:nvPr/>
        </p:nvSpPr>
        <p:spPr>
          <a:xfrm>
            <a:off x="3429000" y="2450592"/>
            <a:ext cx="1115568" cy="169277"/>
          </a:xfrm>
          <a:prstGeom prst="rect">
            <a:avLst/>
          </a:prstGeom>
          <a:noFill/>
        </p:spPr>
        <p:txBody>
          <a:bodyPr wrap="square" lIns="0" tIns="0" rIns="0" bIns="0" anchor="t">
            <a:spAutoFit/>
          </a:bodyPr>
          <a:lstStyle/>
          <a:p>
            <a:pPr algn="ctr"/>
            <a:r>
              <a:rPr sz="1100" b="1" i="0" dirty="0">
                <a:solidFill>
                  <a:srgbClr val="E8639F"/>
                </a:solidFill>
                <a:latin typeface="Calibri"/>
              </a:rPr>
              <a:t>Python engines</a:t>
            </a:r>
          </a:p>
        </p:txBody>
      </p:sp>
      <p:sp>
        <p:nvSpPr>
          <p:cNvPr id="42" name="Text"/>
          <p:cNvSpPr txBox="1"/>
          <p:nvPr/>
        </p:nvSpPr>
        <p:spPr>
          <a:xfrm>
            <a:off x="3429000" y="2651760"/>
            <a:ext cx="1115568" cy="338554"/>
          </a:xfrm>
          <a:prstGeom prst="rect">
            <a:avLst/>
          </a:prstGeom>
          <a:noFill/>
        </p:spPr>
        <p:txBody>
          <a:bodyPr wrap="square" lIns="0" tIns="0" rIns="0" bIns="0" anchor="t">
            <a:spAutoFit/>
          </a:bodyPr>
          <a:lstStyle/>
          <a:p>
            <a:pPr algn="ctr"/>
            <a:r>
              <a:rPr sz="1100" b="0" i="0" dirty="0" err="1">
                <a:solidFill>
                  <a:srgbClr val="2E1B5B"/>
                </a:solidFill>
                <a:latin typeface="Calibri"/>
              </a:rPr>
              <a:t>Qiskit</a:t>
            </a:r>
            <a:r>
              <a:rPr sz="1100" b="0" i="0" dirty="0">
                <a:solidFill>
                  <a:srgbClr val="2E1B5B"/>
                </a:solidFill>
                <a:latin typeface="Calibri"/>
              </a:rPr>
              <a:t> 1.x · Aer</a:t>
            </a:r>
          </a:p>
          <a:p>
            <a:pPr algn="ctr"/>
            <a:r>
              <a:rPr sz="1100" b="0" i="0" dirty="0">
                <a:solidFill>
                  <a:srgbClr val="2E1B5B"/>
                </a:solidFill>
                <a:latin typeface="Calibri"/>
              </a:rPr>
              <a:t>NumPy · SciPy</a:t>
            </a:r>
          </a:p>
        </p:txBody>
      </p:sp>
      <p:sp>
        <p:nvSpPr>
          <p:cNvPr id="43" name="Mongo box"/>
          <p:cNvSpPr/>
          <p:nvPr/>
        </p:nvSpPr>
        <p:spPr>
          <a:xfrm>
            <a:off x="2057400" y="3337560"/>
            <a:ext cx="1115568" cy="502920"/>
          </a:xfrm>
          <a:prstGeom prst="roundRect">
            <a:avLst>
              <a:gd name="adj" fmla="val 21818"/>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Icon bg FiDatabase"/>
          <p:cNvSpPr/>
          <p:nvPr/>
        </p:nvSpPr>
        <p:spPr>
          <a:xfrm>
            <a:off x="2130552" y="3410712"/>
            <a:ext cx="347472" cy="347472"/>
          </a:xfrm>
          <a:prstGeom prst="ellipse">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5" name="Icon FiDatabase" descr="FiDatabase_w.png"/>
          <p:cNvPicPr>
            <a:picLocks noChangeAspect="1"/>
          </p:cNvPicPr>
          <p:nvPr/>
        </p:nvPicPr>
        <p:blipFill>
          <a:blip r:embed="rId6"/>
          <a:stretch>
            <a:fillRect/>
          </a:stretch>
        </p:blipFill>
        <p:spPr>
          <a:xfrm>
            <a:off x="2206995" y="3487155"/>
            <a:ext cx="194584" cy="194584"/>
          </a:xfrm>
          <a:prstGeom prst="rect">
            <a:avLst/>
          </a:prstGeom>
        </p:spPr>
      </p:pic>
      <p:sp>
        <p:nvSpPr>
          <p:cNvPr id="46" name="Text"/>
          <p:cNvSpPr txBox="1"/>
          <p:nvPr/>
        </p:nvSpPr>
        <p:spPr>
          <a:xfrm>
            <a:off x="2514600" y="3419743"/>
            <a:ext cx="640080" cy="338554"/>
          </a:xfrm>
          <a:prstGeom prst="rect">
            <a:avLst/>
          </a:prstGeom>
          <a:noFill/>
        </p:spPr>
        <p:txBody>
          <a:bodyPr wrap="square" lIns="0" tIns="0" rIns="0" bIns="0" anchor="ctr">
            <a:spAutoFit/>
          </a:bodyPr>
          <a:lstStyle/>
          <a:p>
            <a:pPr algn="l"/>
            <a:r>
              <a:rPr sz="1100" b="1" i="0" dirty="0">
                <a:solidFill>
                  <a:srgbClr val="2E1B5B"/>
                </a:solidFill>
                <a:latin typeface="Calibri"/>
              </a:rPr>
              <a:t>MongoDB</a:t>
            </a:r>
          </a:p>
          <a:p>
            <a:pPr algn="l"/>
            <a:r>
              <a:rPr sz="1100" b="1" i="0" dirty="0">
                <a:solidFill>
                  <a:srgbClr val="2E1B5B"/>
                </a:solidFill>
                <a:latin typeface="Calibri"/>
              </a:rPr>
              <a:t>Atlas</a:t>
            </a:r>
          </a:p>
        </p:txBody>
      </p:sp>
      <p:sp>
        <p:nvSpPr>
          <p:cNvPr id="47" name="Connector"/>
          <p:cNvSpPr/>
          <p:nvPr/>
        </p:nvSpPr>
        <p:spPr>
          <a:xfrm>
            <a:off x="2569464" y="3136392"/>
            <a:ext cx="91440" cy="182880"/>
          </a:xfrm>
          <a:prstGeom prst="rect">
            <a:avLst/>
          </a:prstGeom>
          <a:solidFill>
            <a:srgbClr val="B8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
          <p:cNvSpPr txBox="1"/>
          <p:nvPr/>
        </p:nvSpPr>
        <p:spPr>
          <a:xfrm>
            <a:off x="3291840" y="3310128"/>
            <a:ext cx="1371600" cy="566928"/>
          </a:xfrm>
          <a:prstGeom prst="rect">
            <a:avLst/>
          </a:prstGeom>
          <a:noFill/>
        </p:spPr>
        <p:txBody>
          <a:bodyPr wrap="square" lIns="0" tIns="0" rIns="0" bIns="0" anchor="ctr">
            <a:spAutoFit/>
          </a:bodyPr>
          <a:lstStyle/>
          <a:p>
            <a:pPr algn="l"/>
            <a:r>
              <a:rPr sz="850" b="0" i="1">
                <a:solidFill>
                  <a:srgbClr val="6F7399"/>
                </a:solidFill>
                <a:latin typeface="Calibri"/>
              </a:rPr>
              <a:t>Scoring logic lives once, in Python, so CLI and dashboard never disagree</a:t>
            </a:r>
          </a:p>
        </p:txBody>
      </p:sp>
      <p:sp>
        <p:nvSpPr>
          <p:cNvPr id="49" name="Chip"/>
          <p:cNvSpPr/>
          <p:nvPr/>
        </p:nvSpPr>
        <p:spPr>
          <a:xfrm>
            <a:off x="685800" y="4041648"/>
            <a:ext cx="1234440" cy="329184"/>
          </a:xfrm>
          <a:prstGeom prst="roundRect">
            <a:avLst>
              <a:gd name="adj" fmla="val 5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
          <p:cNvSpPr txBox="1"/>
          <p:nvPr/>
        </p:nvSpPr>
        <p:spPr>
          <a:xfrm>
            <a:off x="758952" y="4121601"/>
            <a:ext cx="1088136" cy="169277"/>
          </a:xfrm>
          <a:prstGeom prst="rect">
            <a:avLst/>
          </a:prstGeom>
          <a:noFill/>
        </p:spPr>
        <p:txBody>
          <a:bodyPr wrap="square" lIns="0" tIns="0" rIns="0" bIns="0" anchor="ctr">
            <a:spAutoFit/>
          </a:bodyPr>
          <a:lstStyle/>
          <a:p>
            <a:pPr algn="ctr"/>
            <a:r>
              <a:rPr sz="1100" b="1" i="0" dirty="0">
                <a:solidFill>
                  <a:srgbClr val="2E1B5B"/>
                </a:solidFill>
                <a:latin typeface="Calibri"/>
              </a:rPr>
              <a:t>Docker on Render</a:t>
            </a:r>
          </a:p>
        </p:txBody>
      </p:sp>
      <p:sp>
        <p:nvSpPr>
          <p:cNvPr id="51" name="Chip"/>
          <p:cNvSpPr/>
          <p:nvPr/>
        </p:nvSpPr>
        <p:spPr>
          <a:xfrm>
            <a:off x="2011680" y="4041648"/>
            <a:ext cx="1234440" cy="329184"/>
          </a:xfrm>
          <a:prstGeom prst="roundRect">
            <a:avLst>
              <a:gd name="adj" fmla="val 5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Text"/>
          <p:cNvSpPr txBox="1"/>
          <p:nvPr/>
        </p:nvSpPr>
        <p:spPr>
          <a:xfrm>
            <a:off x="2084832" y="4113907"/>
            <a:ext cx="1088136" cy="184666"/>
          </a:xfrm>
          <a:prstGeom prst="rect">
            <a:avLst/>
          </a:prstGeom>
          <a:noFill/>
        </p:spPr>
        <p:txBody>
          <a:bodyPr wrap="square" lIns="0" tIns="0" rIns="0" bIns="0" anchor="ctr">
            <a:spAutoFit/>
          </a:bodyPr>
          <a:lstStyle/>
          <a:p>
            <a:pPr algn="ctr"/>
            <a:r>
              <a:rPr sz="1200" b="1" i="0" dirty="0">
                <a:solidFill>
                  <a:srgbClr val="2E1B5B"/>
                </a:solidFill>
                <a:latin typeface="Calibri"/>
              </a:rPr>
              <a:t>14 test files</a:t>
            </a:r>
          </a:p>
        </p:txBody>
      </p:sp>
      <p:sp>
        <p:nvSpPr>
          <p:cNvPr id="53" name="Chip"/>
          <p:cNvSpPr/>
          <p:nvPr/>
        </p:nvSpPr>
        <p:spPr>
          <a:xfrm>
            <a:off x="3337560" y="4041648"/>
            <a:ext cx="1234440" cy="329184"/>
          </a:xfrm>
          <a:prstGeom prst="roundRect">
            <a:avLst>
              <a:gd name="adj" fmla="val 50000"/>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
          <p:cNvSpPr txBox="1"/>
          <p:nvPr/>
        </p:nvSpPr>
        <p:spPr>
          <a:xfrm>
            <a:off x="3410712" y="4113907"/>
            <a:ext cx="1088136" cy="184666"/>
          </a:xfrm>
          <a:prstGeom prst="rect">
            <a:avLst/>
          </a:prstGeom>
          <a:noFill/>
        </p:spPr>
        <p:txBody>
          <a:bodyPr wrap="square" lIns="0" tIns="0" rIns="0" bIns="0" anchor="ctr">
            <a:spAutoFit/>
          </a:bodyPr>
          <a:lstStyle/>
          <a:p>
            <a:pPr algn="ctr"/>
            <a:r>
              <a:rPr sz="1200" b="1" i="0" dirty="0">
                <a:solidFill>
                  <a:srgbClr val="2E1B5B"/>
                </a:solidFill>
                <a:latin typeface="Calibri"/>
              </a:rPr>
              <a:t>CI on every push</a:t>
            </a:r>
          </a:p>
        </p:txBody>
      </p:sp>
      <p:sp>
        <p:nvSpPr>
          <p:cNvPr id="55" name="Screenshot frame"/>
          <p:cNvSpPr/>
          <p:nvPr/>
        </p:nvSpPr>
        <p:spPr>
          <a:xfrm>
            <a:off x="4846320" y="1874519"/>
            <a:ext cx="3611880" cy="1865376"/>
          </a:xfrm>
          <a:prstGeom prst="roundRect">
            <a:avLst>
              <a:gd name="adj" fmla="val 3921"/>
            </a:avLst>
          </a:prstGeom>
          <a:solidFill>
            <a:srgbClr val="0B0A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6" name="Dashboard screenshot" descr="dash_overview.png"/>
          <p:cNvPicPr>
            <a:picLocks noChangeAspect="1"/>
          </p:cNvPicPr>
          <p:nvPr/>
        </p:nvPicPr>
        <p:blipFill>
          <a:blip r:embed="rId7"/>
          <a:stretch>
            <a:fillRect/>
          </a:stretch>
        </p:blipFill>
        <p:spPr>
          <a:xfrm>
            <a:off x="4901184" y="1929384"/>
            <a:ext cx="3502152" cy="1751076"/>
          </a:xfrm>
          <a:prstGeom prst="rect">
            <a:avLst/>
          </a:prstGeom>
        </p:spPr>
      </p:pic>
      <p:sp>
        <p:nvSpPr>
          <p:cNvPr id="57" name="Text"/>
          <p:cNvSpPr txBox="1"/>
          <p:nvPr/>
        </p:nvSpPr>
        <p:spPr>
          <a:xfrm>
            <a:off x="4846320" y="3840480"/>
            <a:ext cx="3611880" cy="430887"/>
          </a:xfrm>
          <a:prstGeom prst="rect">
            <a:avLst/>
          </a:prstGeom>
          <a:noFill/>
        </p:spPr>
        <p:txBody>
          <a:bodyPr wrap="square" lIns="0" tIns="0" rIns="0" bIns="0" anchor="t">
            <a:spAutoFit/>
          </a:bodyPr>
          <a:lstStyle/>
          <a:p>
            <a:pPr algn="l"/>
            <a:r>
              <a:rPr sz="1400" b="1" i="0" dirty="0">
                <a:solidFill>
                  <a:srgbClr val="5B3BA8"/>
                </a:solidFill>
                <a:latin typeface="Calibri"/>
              </a:rPr>
              <a:t>Live: </a:t>
            </a:r>
            <a:r>
              <a:rPr sz="1400" b="0" i="0" dirty="0">
                <a:solidFill>
                  <a:srgbClr val="2E1B5B"/>
                </a:solidFill>
                <a:latin typeface="Calibri"/>
              </a:rPr>
              <a:t>quantvault-n8cp.onrender.com</a:t>
            </a:r>
          </a:p>
          <a:p>
            <a:pPr algn="l"/>
            <a:r>
              <a:rPr sz="1400" b="0" i="0" dirty="0">
                <a:solidFill>
                  <a:srgbClr val="6F7399"/>
                </a:solidFill>
                <a:latin typeface="Calibri"/>
              </a:rPr>
              <a:t>Built-in demo account, no sign-up needed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Insert area"/>
          <p:cNvSpPr/>
          <p:nvPr/>
        </p:nvSpPr>
        <p:spPr>
          <a:xfrm>
            <a:off x="457200" y="1691640"/>
            <a:ext cx="4937760" cy="2926080"/>
          </a:xfrm>
          <a:prstGeom prst="roundRect">
            <a:avLst>
              <a:gd name="adj" fmla="val 2500"/>
            </a:avLst>
          </a:prstGeom>
          <a:solidFill>
            <a:srgbClr val="FFFFFF"/>
          </a:solidFill>
          <a:ln w="15875">
            <a:solidFill>
              <a:srgbClr val="B8BDEB"/>
            </a:solidFill>
            <a:prstDash val="solid"/>
          </a:ln>
        </p:spPr>
        <p:txBody>
          <a:bodyPr/>
          <a:lstStyle/>
          <a:p>
            <a:endParaRPr lang="en-IN"/>
          </a:p>
        </p:txBody>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9" name="Card accent"/>
          <p:cNvSpPr/>
          <p:nvPr/>
        </p:nvSpPr>
        <p:spPr>
          <a:xfrm>
            <a:off x="5806440" y="1691640"/>
            <a:ext cx="822960" cy="54864"/>
          </a:xfrm>
          <a:prstGeom prst="rect">
            <a:avLst/>
          </a:prstGeom>
          <a:solidFill>
            <a:srgbClr val="5B3BA8"/>
          </a:solidFill>
          <a:ln w="12700">
            <a:solidFill>
              <a:srgbClr val="5B3BA8"/>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graphicFrame>
        <p:nvGraphicFramePr>
          <p:cNvPr id="26" name="QBER chart"/>
          <p:cNvGraphicFramePr>
            <a:graphicFrameLocks noGrp="1"/>
          </p:cNvGraphicFramePr>
          <p:nvPr/>
        </p:nvGraphicFramePr>
        <p:xfrm>
          <a:off x="548640" y="1783080"/>
          <a:ext cx="47548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p:cNvSpPr txBox="1"/>
          <p:nvPr/>
        </p:nvSpPr>
        <p:spPr>
          <a:xfrm>
            <a:off x="5806440" y="1874519"/>
            <a:ext cx="2743200" cy="274320"/>
          </a:xfrm>
          <a:prstGeom prst="rect">
            <a:avLst/>
          </a:prstGeom>
          <a:noFill/>
        </p:spPr>
        <p:txBody>
          <a:bodyPr wrap="square" lIns="0" tIns="0" rIns="0" bIns="0" anchor="t">
            <a:spAutoFit/>
          </a:bodyPr>
          <a:lstStyle/>
          <a:p>
            <a:pPr algn="l"/>
            <a:r>
              <a:rPr sz="1200" b="1" i="0">
                <a:solidFill>
                  <a:srgbClr val="5B3BA8"/>
                </a:solidFill>
                <a:latin typeface="Georgia"/>
              </a:rPr>
              <a:t>Three runs, 2,048 qubits</a:t>
            </a:r>
          </a:p>
        </p:txBody>
      </p:sp>
      <p:sp>
        <p:nvSpPr>
          <p:cNvPr id="28" name="Run tile"/>
          <p:cNvSpPr/>
          <p:nvPr/>
        </p:nvSpPr>
        <p:spPr>
          <a:xfrm>
            <a:off x="5806440" y="2240280"/>
            <a:ext cx="2697480" cy="530352"/>
          </a:xfrm>
          <a:prstGeom prst="roundRect">
            <a:avLst>
              <a:gd name="adj" fmla="val 20689"/>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Icon bg FiCheckCircle"/>
          <p:cNvSpPr/>
          <p:nvPr/>
        </p:nvSpPr>
        <p:spPr>
          <a:xfrm>
            <a:off x="5897880" y="2331720"/>
            <a:ext cx="347472" cy="347472"/>
          </a:xfrm>
          <a:prstGeom prst="ellipse">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Icon FiCheckCircle" descr="FiCheckCircle_w.png"/>
          <p:cNvPicPr>
            <a:picLocks noChangeAspect="1"/>
          </p:cNvPicPr>
          <p:nvPr/>
        </p:nvPicPr>
        <p:blipFill>
          <a:blip r:embed="rId4"/>
          <a:stretch>
            <a:fillRect/>
          </a:stretch>
        </p:blipFill>
        <p:spPr>
          <a:xfrm>
            <a:off x="5953475" y="2387315"/>
            <a:ext cx="236280" cy="236280"/>
          </a:xfrm>
          <a:prstGeom prst="rect">
            <a:avLst/>
          </a:prstGeom>
        </p:spPr>
      </p:pic>
      <p:sp>
        <p:nvSpPr>
          <p:cNvPr id="31" name="Text"/>
          <p:cNvSpPr txBox="1"/>
          <p:nvPr/>
        </p:nvSpPr>
        <p:spPr>
          <a:xfrm>
            <a:off x="6327648" y="2240280"/>
            <a:ext cx="777240" cy="530352"/>
          </a:xfrm>
          <a:prstGeom prst="rect">
            <a:avLst/>
          </a:prstGeom>
          <a:noFill/>
        </p:spPr>
        <p:txBody>
          <a:bodyPr wrap="square" lIns="0" tIns="0" rIns="0" bIns="0" anchor="ctr">
            <a:spAutoFit/>
          </a:bodyPr>
          <a:lstStyle/>
          <a:p>
            <a:pPr algn="l"/>
            <a:r>
              <a:rPr sz="1500" b="1" i="0">
                <a:solidFill>
                  <a:srgbClr val="1F9D6B"/>
                </a:solidFill>
                <a:latin typeface="Georgia"/>
              </a:rPr>
              <a:t>0.0%</a:t>
            </a:r>
          </a:p>
        </p:txBody>
      </p:sp>
      <p:sp>
        <p:nvSpPr>
          <p:cNvPr id="32" name="Text"/>
          <p:cNvSpPr txBox="1"/>
          <p:nvPr/>
        </p:nvSpPr>
        <p:spPr>
          <a:xfrm>
            <a:off x="7086600" y="2328484"/>
            <a:ext cx="1371600" cy="353943"/>
          </a:xfrm>
          <a:prstGeom prst="rect">
            <a:avLst/>
          </a:prstGeom>
          <a:noFill/>
        </p:spPr>
        <p:txBody>
          <a:bodyPr wrap="square" lIns="0" tIns="0" rIns="0" bIns="0" anchor="ctr">
            <a:spAutoFit/>
          </a:bodyPr>
          <a:lstStyle/>
          <a:p>
            <a:pPr algn="l"/>
            <a:r>
              <a:rPr sz="1200" b="1" i="0" dirty="0">
                <a:solidFill>
                  <a:srgbClr val="2E1B5B"/>
                </a:solidFill>
                <a:latin typeface="Calibri"/>
              </a:rPr>
              <a:t>Clean channel</a:t>
            </a:r>
          </a:p>
          <a:p>
            <a:pPr algn="l"/>
            <a:r>
              <a:rPr sz="1100" b="0" i="0" dirty="0">
                <a:solidFill>
                  <a:srgbClr val="6F7399"/>
                </a:solidFill>
                <a:latin typeface="Calibri"/>
              </a:rPr>
              <a:t>443-bit key</a:t>
            </a:r>
          </a:p>
        </p:txBody>
      </p:sp>
      <p:sp>
        <p:nvSpPr>
          <p:cNvPr id="33" name="Run tile"/>
          <p:cNvSpPr/>
          <p:nvPr/>
        </p:nvSpPr>
        <p:spPr>
          <a:xfrm>
            <a:off x="5806440" y="2862072"/>
            <a:ext cx="2697480" cy="530352"/>
          </a:xfrm>
          <a:prstGeom prst="roundRect">
            <a:avLst>
              <a:gd name="adj" fmla="val 20689"/>
            </a:avLst>
          </a:prstGeom>
          <a:solidFill>
            <a:srgbClr val="FCE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Icon bg FiXCircle"/>
          <p:cNvSpPr/>
          <p:nvPr/>
        </p:nvSpPr>
        <p:spPr>
          <a:xfrm>
            <a:off x="5897880" y="2953512"/>
            <a:ext cx="347472" cy="347472"/>
          </a:xfrm>
          <a:prstGeom prst="ellipse">
            <a:avLst/>
          </a:prstGeom>
          <a:solidFill>
            <a:srgbClr val="D63B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Icon FiXCircle" descr="FiXCircle_w.png"/>
          <p:cNvPicPr>
            <a:picLocks noChangeAspect="1"/>
          </p:cNvPicPr>
          <p:nvPr/>
        </p:nvPicPr>
        <p:blipFill>
          <a:blip r:embed="rId5"/>
          <a:stretch>
            <a:fillRect/>
          </a:stretch>
        </p:blipFill>
        <p:spPr>
          <a:xfrm>
            <a:off x="5953475" y="3009107"/>
            <a:ext cx="236280" cy="236280"/>
          </a:xfrm>
          <a:prstGeom prst="rect">
            <a:avLst/>
          </a:prstGeom>
        </p:spPr>
      </p:pic>
      <p:sp>
        <p:nvSpPr>
          <p:cNvPr id="36" name="Text"/>
          <p:cNvSpPr txBox="1"/>
          <p:nvPr/>
        </p:nvSpPr>
        <p:spPr>
          <a:xfrm>
            <a:off x="6327648" y="2862072"/>
            <a:ext cx="777240" cy="530352"/>
          </a:xfrm>
          <a:prstGeom prst="rect">
            <a:avLst/>
          </a:prstGeom>
          <a:noFill/>
        </p:spPr>
        <p:txBody>
          <a:bodyPr wrap="square" lIns="0" tIns="0" rIns="0" bIns="0" anchor="ctr">
            <a:spAutoFit/>
          </a:bodyPr>
          <a:lstStyle/>
          <a:p>
            <a:pPr algn="l"/>
            <a:r>
              <a:rPr sz="1500" b="1" i="0">
                <a:solidFill>
                  <a:srgbClr val="D63B6E"/>
                </a:solidFill>
                <a:latin typeface="Georgia"/>
              </a:rPr>
              <a:t>24.0%</a:t>
            </a:r>
          </a:p>
        </p:txBody>
      </p:sp>
      <p:sp>
        <p:nvSpPr>
          <p:cNvPr id="37" name="Text"/>
          <p:cNvSpPr txBox="1"/>
          <p:nvPr/>
        </p:nvSpPr>
        <p:spPr>
          <a:xfrm>
            <a:off x="7086600" y="2950277"/>
            <a:ext cx="1371600" cy="353943"/>
          </a:xfrm>
          <a:prstGeom prst="rect">
            <a:avLst/>
          </a:prstGeom>
          <a:noFill/>
        </p:spPr>
        <p:txBody>
          <a:bodyPr wrap="square" lIns="0" tIns="0" rIns="0" bIns="0" anchor="ctr">
            <a:spAutoFit/>
          </a:bodyPr>
          <a:lstStyle/>
          <a:p>
            <a:pPr algn="l"/>
            <a:r>
              <a:rPr sz="1200" b="1" i="0" dirty="0">
                <a:solidFill>
                  <a:srgbClr val="2E1B5B"/>
                </a:solidFill>
                <a:latin typeface="Calibri"/>
              </a:rPr>
              <a:t>Eve on every qubit</a:t>
            </a:r>
          </a:p>
          <a:p>
            <a:pPr algn="l"/>
            <a:r>
              <a:rPr lang="en-US" sz="1100" dirty="0">
                <a:solidFill>
                  <a:srgbClr val="6F7399"/>
                </a:solidFill>
                <a:latin typeface="Calibri"/>
              </a:rPr>
              <a:t>A</a:t>
            </a:r>
            <a:r>
              <a:rPr sz="1100" b="0" i="0" dirty="0">
                <a:solidFill>
                  <a:srgbClr val="6F7399"/>
                </a:solidFill>
                <a:latin typeface="Calibri"/>
              </a:rPr>
              <a:t>borted, 0 bits</a:t>
            </a:r>
          </a:p>
        </p:txBody>
      </p:sp>
      <p:sp>
        <p:nvSpPr>
          <p:cNvPr id="38" name="Run tile"/>
          <p:cNvSpPr/>
          <p:nvPr/>
        </p:nvSpPr>
        <p:spPr>
          <a:xfrm>
            <a:off x="5806440" y="3483864"/>
            <a:ext cx="2697480" cy="530352"/>
          </a:xfrm>
          <a:prstGeom prst="roundRect">
            <a:avLst>
              <a:gd name="adj" fmla="val 20689"/>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Icon bg FiCheckCircle"/>
          <p:cNvSpPr/>
          <p:nvPr/>
        </p:nvSpPr>
        <p:spPr>
          <a:xfrm>
            <a:off x="5897880" y="3575304"/>
            <a:ext cx="347472" cy="347472"/>
          </a:xfrm>
          <a:prstGeom prst="ellipse">
            <a:avLst/>
          </a:prstGeom>
          <a:solidFill>
            <a:srgbClr val="1F9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Icon FiCheckCircle" descr="FiCheckCircle_w.png"/>
          <p:cNvPicPr>
            <a:picLocks noChangeAspect="1"/>
          </p:cNvPicPr>
          <p:nvPr/>
        </p:nvPicPr>
        <p:blipFill>
          <a:blip r:embed="rId4"/>
          <a:stretch>
            <a:fillRect/>
          </a:stretch>
        </p:blipFill>
        <p:spPr>
          <a:xfrm>
            <a:off x="5953475" y="3630899"/>
            <a:ext cx="236280" cy="236280"/>
          </a:xfrm>
          <a:prstGeom prst="rect">
            <a:avLst/>
          </a:prstGeom>
        </p:spPr>
      </p:pic>
      <p:sp>
        <p:nvSpPr>
          <p:cNvPr id="41" name="Text"/>
          <p:cNvSpPr txBox="1"/>
          <p:nvPr/>
        </p:nvSpPr>
        <p:spPr>
          <a:xfrm>
            <a:off x="6327648" y="3483864"/>
            <a:ext cx="777240" cy="530352"/>
          </a:xfrm>
          <a:prstGeom prst="rect">
            <a:avLst/>
          </a:prstGeom>
          <a:noFill/>
        </p:spPr>
        <p:txBody>
          <a:bodyPr wrap="square" lIns="0" tIns="0" rIns="0" bIns="0" anchor="ctr">
            <a:spAutoFit/>
          </a:bodyPr>
          <a:lstStyle/>
          <a:p>
            <a:pPr algn="l"/>
            <a:r>
              <a:rPr sz="1500" b="1" i="0">
                <a:solidFill>
                  <a:srgbClr val="1F9D6B"/>
                </a:solidFill>
                <a:latin typeface="Georgia"/>
              </a:rPr>
              <a:t>2.4%</a:t>
            </a:r>
          </a:p>
        </p:txBody>
      </p:sp>
      <p:sp>
        <p:nvSpPr>
          <p:cNvPr id="42" name="Text"/>
          <p:cNvSpPr txBox="1"/>
          <p:nvPr/>
        </p:nvSpPr>
        <p:spPr>
          <a:xfrm>
            <a:off x="7086600" y="3572068"/>
            <a:ext cx="1371600" cy="353943"/>
          </a:xfrm>
          <a:prstGeom prst="rect">
            <a:avLst/>
          </a:prstGeom>
          <a:noFill/>
        </p:spPr>
        <p:txBody>
          <a:bodyPr wrap="square" lIns="0" tIns="0" rIns="0" bIns="0" anchor="ctr">
            <a:spAutoFit/>
          </a:bodyPr>
          <a:lstStyle/>
          <a:p>
            <a:pPr algn="l"/>
            <a:r>
              <a:rPr sz="1200" b="1" i="0" dirty="0">
                <a:solidFill>
                  <a:srgbClr val="2E1B5B"/>
                </a:solidFill>
                <a:latin typeface="Calibri"/>
              </a:rPr>
              <a:t>Noise p = 0.05</a:t>
            </a:r>
          </a:p>
          <a:p>
            <a:pPr algn="l"/>
            <a:r>
              <a:rPr sz="1100" b="0" i="0" dirty="0">
                <a:solidFill>
                  <a:srgbClr val="6F7399"/>
                </a:solidFill>
                <a:latin typeface="Calibri"/>
              </a:rPr>
              <a:t>170-bit key</a:t>
            </a:r>
          </a:p>
        </p:txBody>
      </p:sp>
      <p:sp>
        <p:nvSpPr>
          <p:cNvPr id="43" name="Text"/>
          <p:cNvSpPr txBox="1"/>
          <p:nvPr/>
        </p:nvSpPr>
        <p:spPr>
          <a:xfrm>
            <a:off x="5806440" y="4114800"/>
            <a:ext cx="2697480" cy="365760"/>
          </a:xfrm>
          <a:prstGeom prst="rect">
            <a:avLst/>
          </a:prstGeom>
          <a:noFill/>
        </p:spPr>
        <p:txBody>
          <a:bodyPr wrap="square" lIns="0" tIns="0" rIns="0" bIns="0" anchor="t">
            <a:spAutoFit/>
          </a:bodyPr>
          <a:lstStyle/>
          <a:p>
            <a:pPr algn="l"/>
            <a:r>
              <a:rPr sz="1200" b="0" i="1" dirty="0">
                <a:solidFill>
                  <a:srgbClr val="6F7399"/>
                </a:solidFill>
                <a:latin typeface="Calibri"/>
              </a:rPr>
              <a:t>Eve's error rate tracks theory: ≈ 25% × share of qubits she touches.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graphicFrame>
        <p:nvGraphicFramePr>
          <p:cNvPr id="26" name="Risk chart"/>
          <p:cNvGraphicFramePr>
            <a:graphicFrameLocks noGrp="1"/>
          </p:cNvGraphicFramePr>
          <p:nvPr/>
        </p:nvGraphicFramePr>
        <p:xfrm>
          <a:off x="640080" y="1810512"/>
          <a:ext cx="4343400" cy="2359152"/>
        </p:xfrm>
        <a:graphic>
          <a:graphicData uri="http://schemas.openxmlformats.org/drawingml/2006/chart">
            <c:chart xmlns:c="http://schemas.openxmlformats.org/drawingml/2006/chart" xmlns:r="http://schemas.openxmlformats.org/officeDocument/2006/relationships" r:id="rId3"/>
          </a:graphicData>
        </a:graphic>
      </p:graphicFrame>
      <p:sp>
        <p:nvSpPr>
          <p:cNvPr id="27" name="Chip"/>
          <p:cNvSpPr/>
          <p:nvPr/>
        </p:nvSpPr>
        <p:spPr>
          <a:xfrm>
            <a:off x="1920240" y="4206240"/>
            <a:ext cx="822960" cy="219456"/>
          </a:xfrm>
          <a:prstGeom prst="roundRect">
            <a:avLst>
              <a:gd name="adj" fmla="val 50000"/>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
          <p:cNvSpPr txBox="1"/>
          <p:nvPr/>
        </p:nvSpPr>
        <p:spPr>
          <a:xfrm>
            <a:off x="1993392" y="4206240"/>
            <a:ext cx="676656" cy="219456"/>
          </a:xfrm>
          <a:prstGeom prst="rect">
            <a:avLst/>
          </a:prstGeom>
          <a:noFill/>
        </p:spPr>
        <p:txBody>
          <a:bodyPr wrap="square" lIns="0" tIns="0" rIns="0" bIns="0" anchor="ctr">
            <a:spAutoFit/>
          </a:bodyPr>
          <a:lstStyle/>
          <a:p>
            <a:pPr algn="ctr"/>
            <a:r>
              <a:rPr sz="850" b="1" i="0">
                <a:solidFill>
                  <a:srgbClr val="FFFFFF"/>
                </a:solidFill>
                <a:latin typeface="Calibri"/>
              </a:rPr>
              <a:t>Critical</a:t>
            </a:r>
          </a:p>
        </p:txBody>
      </p:sp>
      <p:sp>
        <p:nvSpPr>
          <p:cNvPr id="29" name="Chip"/>
          <p:cNvSpPr/>
          <p:nvPr/>
        </p:nvSpPr>
        <p:spPr>
          <a:xfrm>
            <a:off x="2834640" y="4206240"/>
            <a:ext cx="822960" cy="219456"/>
          </a:xfrm>
          <a:prstGeom prst="roundRect">
            <a:avLst>
              <a:gd name="adj" fmla="val 50000"/>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
          <p:cNvSpPr txBox="1"/>
          <p:nvPr/>
        </p:nvSpPr>
        <p:spPr>
          <a:xfrm>
            <a:off x="2907792" y="4206240"/>
            <a:ext cx="676656" cy="219456"/>
          </a:xfrm>
          <a:prstGeom prst="rect">
            <a:avLst/>
          </a:prstGeom>
          <a:noFill/>
        </p:spPr>
        <p:txBody>
          <a:bodyPr wrap="square" lIns="0" tIns="0" rIns="0" bIns="0" anchor="ctr">
            <a:spAutoFit/>
          </a:bodyPr>
          <a:lstStyle/>
          <a:p>
            <a:pPr algn="ctr"/>
            <a:r>
              <a:rPr sz="850" b="1" i="0">
                <a:solidFill>
                  <a:srgbClr val="FFFFFF"/>
                </a:solidFill>
                <a:latin typeface="Calibri"/>
              </a:rPr>
              <a:t>High</a:t>
            </a:r>
          </a:p>
        </p:txBody>
      </p:sp>
      <p:sp>
        <p:nvSpPr>
          <p:cNvPr id="31" name="Chip"/>
          <p:cNvSpPr/>
          <p:nvPr/>
        </p:nvSpPr>
        <p:spPr>
          <a:xfrm>
            <a:off x="3749039" y="4206240"/>
            <a:ext cx="822960" cy="219456"/>
          </a:xfrm>
          <a:prstGeom prst="roundRect">
            <a:avLst>
              <a:gd name="adj" fmla="val 50000"/>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
          <p:cNvSpPr txBox="1"/>
          <p:nvPr/>
        </p:nvSpPr>
        <p:spPr>
          <a:xfrm>
            <a:off x="3822191" y="4206240"/>
            <a:ext cx="676656" cy="219456"/>
          </a:xfrm>
          <a:prstGeom prst="rect">
            <a:avLst/>
          </a:prstGeom>
          <a:noFill/>
        </p:spPr>
        <p:txBody>
          <a:bodyPr wrap="square" lIns="0" tIns="0" rIns="0" bIns="0" anchor="ctr">
            <a:spAutoFit/>
          </a:bodyPr>
          <a:lstStyle/>
          <a:p>
            <a:pPr algn="ctr"/>
            <a:r>
              <a:rPr sz="850" b="1" i="0">
                <a:solidFill>
                  <a:srgbClr val="FFFFFF"/>
                </a:solidFill>
                <a:latin typeface="Calibri"/>
              </a:rPr>
              <a:t>Medium</a:t>
            </a:r>
          </a:p>
        </p:txBody>
      </p:sp>
      <p:sp>
        <p:nvSpPr>
          <p:cNvPr id="33" name="Text"/>
          <p:cNvSpPr txBox="1"/>
          <p:nvPr/>
        </p:nvSpPr>
        <p:spPr>
          <a:xfrm>
            <a:off x="5257800" y="1865376"/>
            <a:ext cx="3200400" cy="215444"/>
          </a:xfrm>
          <a:prstGeom prst="rect">
            <a:avLst/>
          </a:prstGeom>
          <a:noFill/>
        </p:spPr>
        <p:txBody>
          <a:bodyPr wrap="square" lIns="0" tIns="0" rIns="0" bIns="0" anchor="t">
            <a:spAutoFit/>
          </a:bodyPr>
          <a:lstStyle/>
          <a:p>
            <a:pPr algn="l"/>
            <a:r>
              <a:rPr sz="1400" b="1" i="0" dirty="0">
                <a:solidFill>
                  <a:srgbClr val="5B3BA8"/>
                </a:solidFill>
                <a:latin typeface="Georgia"/>
              </a:rPr>
              <a:t>Same problem, everywhere</a:t>
            </a:r>
          </a:p>
        </p:txBody>
      </p:sp>
      <p:sp>
        <p:nvSpPr>
          <p:cNvPr id="34" name="Sector tile"/>
          <p:cNvSpPr/>
          <p:nvPr/>
        </p:nvSpPr>
        <p:spPr>
          <a:xfrm>
            <a:off x="5257800" y="2212848"/>
            <a:ext cx="1554480" cy="658368"/>
          </a:xfrm>
          <a:prstGeom prst="roundRect">
            <a:avLst>
              <a:gd name="adj" fmla="val 1666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Icon bg FiHeart"/>
          <p:cNvSpPr/>
          <p:nvPr/>
        </p:nvSpPr>
        <p:spPr>
          <a:xfrm>
            <a:off x="5349240" y="2359152"/>
            <a:ext cx="365760" cy="36576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6" name="Icon FiHeart" descr="FiHeart_w.png"/>
          <p:cNvPicPr>
            <a:picLocks noChangeAspect="1"/>
          </p:cNvPicPr>
          <p:nvPr/>
        </p:nvPicPr>
        <p:blipFill>
          <a:blip r:embed="rId4"/>
          <a:stretch>
            <a:fillRect/>
          </a:stretch>
        </p:blipFill>
        <p:spPr>
          <a:xfrm>
            <a:off x="5429707" y="2439619"/>
            <a:ext cx="204825" cy="204825"/>
          </a:xfrm>
          <a:prstGeom prst="rect">
            <a:avLst/>
          </a:prstGeom>
        </p:spPr>
      </p:pic>
      <p:sp>
        <p:nvSpPr>
          <p:cNvPr id="37" name="Text"/>
          <p:cNvSpPr txBox="1"/>
          <p:nvPr/>
        </p:nvSpPr>
        <p:spPr>
          <a:xfrm>
            <a:off x="5788152" y="2417973"/>
            <a:ext cx="1005840" cy="284693"/>
          </a:xfrm>
          <a:prstGeom prst="rect">
            <a:avLst/>
          </a:prstGeom>
          <a:noFill/>
        </p:spPr>
        <p:txBody>
          <a:bodyPr wrap="square" lIns="0" tIns="0" rIns="0" bIns="0" anchor="ctr">
            <a:spAutoFit/>
          </a:bodyPr>
          <a:lstStyle/>
          <a:p>
            <a:pPr algn="l"/>
            <a:r>
              <a:rPr sz="1000" b="1" i="0" dirty="0">
                <a:solidFill>
                  <a:srgbClr val="E8639F"/>
                </a:solidFill>
                <a:latin typeface="Calibri"/>
              </a:rPr>
              <a:t>Hospitals</a:t>
            </a:r>
          </a:p>
          <a:p>
            <a:pPr algn="l"/>
            <a:r>
              <a:rPr lang="en-US" sz="850" dirty="0">
                <a:solidFill>
                  <a:srgbClr val="6F7399"/>
                </a:solidFill>
                <a:latin typeface="Calibri"/>
              </a:rPr>
              <a:t>R</a:t>
            </a:r>
            <a:r>
              <a:rPr sz="850" b="0" i="0" dirty="0">
                <a:solidFill>
                  <a:srgbClr val="6F7399"/>
                </a:solidFill>
                <a:latin typeface="Calibri"/>
              </a:rPr>
              <a:t>ecords kept 25+ yrs</a:t>
            </a:r>
          </a:p>
        </p:txBody>
      </p:sp>
      <p:sp>
        <p:nvSpPr>
          <p:cNvPr id="38" name="Sector tile"/>
          <p:cNvSpPr/>
          <p:nvPr/>
        </p:nvSpPr>
        <p:spPr>
          <a:xfrm>
            <a:off x="6903720" y="2212848"/>
            <a:ext cx="1554480" cy="658368"/>
          </a:xfrm>
          <a:prstGeom prst="roundRect">
            <a:avLst>
              <a:gd name="adj" fmla="val 1666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Icon bg FiCreditCard"/>
          <p:cNvSpPr/>
          <p:nvPr/>
        </p:nvSpPr>
        <p:spPr>
          <a:xfrm>
            <a:off x="6995159" y="2359152"/>
            <a:ext cx="365760" cy="365760"/>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Icon FiCreditCard" descr="FiCreditCard_w.png"/>
          <p:cNvPicPr>
            <a:picLocks noChangeAspect="1"/>
          </p:cNvPicPr>
          <p:nvPr/>
        </p:nvPicPr>
        <p:blipFill>
          <a:blip r:embed="rId5"/>
          <a:stretch>
            <a:fillRect/>
          </a:stretch>
        </p:blipFill>
        <p:spPr>
          <a:xfrm>
            <a:off x="7075627" y="2439619"/>
            <a:ext cx="204825" cy="204825"/>
          </a:xfrm>
          <a:prstGeom prst="rect">
            <a:avLst/>
          </a:prstGeom>
        </p:spPr>
      </p:pic>
      <p:sp>
        <p:nvSpPr>
          <p:cNvPr id="41" name="Text"/>
          <p:cNvSpPr txBox="1"/>
          <p:nvPr/>
        </p:nvSpPr>
        <p:spPr>
          <a:xfrm>
            <a:off x="7434071" y="2417973"/>
            <a:ext cx="1005840" cy="284693"/>
          </a:xfrm>
          <a:prstGeom prst="rect">
            <a:avLst/>
          </a:prstGeom>
          <a:noFill/>
        </p:spPr>
        <p:txBody>
          <a:bodyPr wrap="square" lIns="0" tIns="0" rIns="0" bIns="0" anchor="ctr">
            <a:spAutoFit/>
          </a:bodyPr>
          <a:lstStyle/>
          <a:p>
            <a:pPr algn="l"/>
            <a:r>
              <a:rPr sz="1000" b="1" i="0" dirty="0">
                <a:solidFill>
                  <a:srgbClr val="5B3BA8"/>
                </a:solidFill>
                <a:latin typeface="Calibri"/>
              </a:rPr>
              <a:t>Banks</a:t>
            </a:r>
          </a:p>
          <a:p>
            <a:pPr algn="l"/>
            <a:r>
              <a:rPr lang="en-US" sz="850" dirty="0">
                <a:solidFill>
                  <a:srgbClr val="6F7399"/>
                </a:solidFill>
                <a:latin typeface="Calibri"/>
              </a:rPr>
              <a:t>L</a:t>
            </a:r>
            <a:r>
              <a:rPr sz="850" b="0" i="0" dirty="0">
                <a:solidFill>
                  <a:srgbClr val="6F7399"/>
                </a:solidFill>
                <a:latin typeface="Calibri"/>
              </a:rPr>
              <a:t>oan &amp; KYC archives</a:t>
            </a:r>
          </a:p>
        </p:txBody>
      </p:sp>
      <p:sp>
        <p:nvSpPr>
          <p:cNvPr id="42" name="Sector tile"/>
          <p:cNvSpPr/>
          <p:nvPr/>
        </p:nvSpPr>
        <p:spPr>
          <a:xfrm>
            <a:off x="5257800" y="2962656"/>
            <a:ext cx="1554480" cy="658368"/>
          </a:xfrm>
          <a:prstGeom prst="roundRect">
            <a:avLst>
              <a:gd name="adj" fmla="val 1666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Icon bg FiArchive"/>
          <p:cNvSpPr/>
          <p:nvPr/>
        </p:nvSpPr>
        <p:spPr>
          <a:xfrm>
            <a:off x="5349240" y="3108960"/>
            <a:ext cx="365760" cy="365760"/>
          </a:xfrm>
          <a:prstGeom prst="ellipse">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Icon FiArchive" descr="FiArchive_w.png"/>
          <p:cNvPicPr>
            <a:picLocks noChangeAspect="1"/>
          </p:cNvPicPr>
          <p:nvPr/>
        </p:nvPicPr>
        <p:blipFill>
          <a:blip r:embed="rId6"/>
          <a:stretch>
            <a:fillRect/>
          </a:stretch>
        </p:blipFill>
        <p:spPr>
          <a:xfrm>
            <a:off x="5429707" y="3189427"/>
            <a:ext cx="204825" cy="204825"/>
          </a:xfrm>
          <a:prstGeom prst="rect">
            <a:avLst/>
          </a:prstGeom>
        </p:spPr>
      </p:pic>
      <p:sp>
        <p:nvSpPr>
          <p:cNvPr id="45" name="Text"/>
          <p:cNvSpPr txBox="1"/>
          <p:nvPr/>
        </p:nvSpPr>
        <p:spPr>
          <a:xfrm>
            <a:off x="5788152" y="3167781"/>
            <a:ext cx="1005840" cy="284693"/>
          </a:xfrm>
          <a:prstGeom prst="rect">
            <a:avLst/>
          </a:prstGeom>
          <a:noFill/>
        </p:spPr>
        <p:txBody>
          <a:bodyPr wrap="square" lIns="0" tIns="0" rIns="0" bIns="0" anchor="ctr">
            <a:spAutoFit/>
          </a:bodyPr>
          <a:lstStyle/>
          <a:p>
            <a:pPr algn="l"/>
            <a:r>
              <a:rPr sz="1000" b="1" i="0" dirty="0">
                <a:solidFill>
                  <a:srgbClr val="7C93F0"/>
                </a:solidFill>
                <a:latin typeface="Calibri"/>
              </a:rPr>
              <a:t>Government</a:t>
            </a:r>
          </a:p>
          <a:p>
            <a:pPr algn="l"/>
            <a:r>
              <a:rPr lang="en-US" sz="850" dirty="0">
                <a:solidFill>
                  <a:srgbClr val="6F7399"/>
                </a:solidFill>
                <a:latin typeface="Calibri"/>
              </a:rPr>
              <a:t>D</a:t>
            </a:r>
            <a:r>
              <a:rPr sz="850" b="0" i="0" dirty="0">
                <a:solidFill>
                  <a:srgbClr val="6F7399"/>
                </a:solidFill>
                <a:latin typeface="Calibri"/>
              </a:rPr>
              <a:t>ecades-long secrets</a:t>
            </a:r>
          </a:p>
        </p:txBody>
      </p:sp>
      <p:sp>
        <p:nvSpPr>
          <p:cNvPr id="46" name="Sector tile"/>
          <p:cNvSpPr/>
          <p:nvPr/>
        </p:nvSpPr>
        <p:spPr>
          <a:xfrm>
            <a:off x="6903720" y="2962656"/>
            <a:ext cx="1554480" cy="658368"/>
          </a:xfrm>
          <a:prstGeom prst="roundRect">
            <a:avLst>
              <a:gd name="adj" fmla="val 1666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Icon bg FiTool"/>
          <p:cNvSpPr/>
          <p:nvPr/>
        </p:nvSpPr>
        <p:spPr>
          <a:xfrm>
            <a:off x="6995159" y="3108960"/>
            <a:ext cx="365760" cy="365760"/>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8" name="Icon FiTool" descr="FiTool_w.png"/>
          <p:cNvPicPr>
            <a:picLocks noChangeAspect="1"/>
          </p:cNvPicPr>
          <p:nvPr/>
        </p:nvPicPr>
        <p:blipFill>
          <a:blip r:embed="rId7"/>
          <a:stretch>
            <a:fillRect/>
          </a:stretch>
        </p:blipFill>
        <p:spPr>
          <a:xfrm>
            <a:off x="7075627" y="3189427"/>
            <a:ext cx="204825" cy="204825"/>
          </a:xfrm>
          <a:prstGeom prst="rect">
            <a:avLst/>
          </a:prstGeom>
        </p:spPr>
      </p:pic>
      <p:sp>
        <p:nvSpPr>
          <p:cNvPr id="49" name="Text"/>
          <p:cNvSpPr txBox="1"/>
          <p:nvPr/>
        </p:nvSpPr>
        <p:spPr>
          <a:xfrm>
            <a:off x="7434071" y="3167781"/>
            <a:ext cx="1005840" cy="284693"/>
          </a:xfrm>
          <a:prstGeom prst="rect">
            <a:avLst/>
          </a:prstGeom>
          <a:noFill/>
        </p:spPr>
        <p:txBody>
          <a:bodyPr wrap="square" lIns="0" tIns="0" rIns="0" bIns="0" anchor="ctr">
            <a:spAutoFit/>
          </a:bodyPr>
          <a:lstStyle/>
          <a:p>
            <a:pPr algn="l"/>
            <a:r>
              <a:rPr sz="1000" b="1" i="0" dirty="0">
                <a:solidFill>
                  <a:srgbClr val="2E1B5B"/>
                </a:solidFill>
                <a:latin typeface="Calibri"/>
              </a:rPr>
              <a:t>Device makers</a:t>
            </a:r>
          </a:p>
          <a:p>
            <a:pPr algn="l"/>
            <a:r>
              <a:rPr lang="en-US" sz="850" dirty="0">
                <a:solidFill>
                  <a:srgbClr val="6F7399"/>
                </a:solidFill>
                <a:latin typeface="Calibri"/>
              </a:rPr>
              <a:t>F</a:t>
            </a:r>
            <a:r>
              <a:rPr sz="850" b="0" i="0" dirty="0">
                <a:solidFill>
                  <a:srgbClr val="6F7399"/>
                </a:solidFill>
                <a:latin typeface="Calibri"/>
              </a:rPr>
              <a:t>irmware, 15+ yrs</a:t>
            </a:r>
          </a:p>
        </p:txBody>
      </p:sp>
      <p:sp>
        <p:nvSpPr>
          <p:cNvPr id="50" name="Persona"/>
          <p:cNvSpPr/>
          <p:nvPr/>
        </p:nvSpPr>
        <p:spPr>
          <a:xfrm>
            <a:off x="5257800" y="3767328"/>
            <a:ext cx="3200400" cy="658368"/>
          </a:xfrm>
          <a:prstGeom prst="roundRect">
            <a:avLst>
              <a:gd name="adj" fmla="val 16666"/>
            </a:avLst>
          </a:prstGeom>
          <a:solidFill>
            <a:srgbClr val="FCE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Icon bg FiUser"/>
          <p:cNvSpPr/>
          <p:nvPr/>
        </p:nvSpPr>
        <p:spPr>
          <a:xfrm>
            <a:off x="5349240" y="3913632"/>
            <a:ext cx="365760" cy="365760"/>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2" name="Icon FiUser" descr="FiUser_w.png"/>
          <p:cNvPicPr>
            <a:picLocks noChangeAspect="1"/>
          </p:cNvPicPr>
          <p:nvPr/>
        </p:nvPicPr>
        <p:blipFill>
          <a:blip r:embed="rId8"/>
          <a:stretch>
            <a:fillRect/>
          </a:stretch>
        </p:blipFill>
        <p:spPr>
          <a:xfrm>
            <a:off x="5429707" y="3994099"/>
            <a:ext cx="204825" cy="204825"/>
          </a:xfrm>
          <a:prstGeom prst="rect">
            <a:avLst/>
          </a:prstGeom>
        </p:spPr>
      </p:pic>
      <p:sp>
        <p:nvSpPr>
          <p:cNvPr id="53" name="Text"/>
          <p:cNvSpPr txBox="1"/>
          <p:nvPr/>
        </p:nvSpPr>
        <p:spPr>
          <a:xfrm>
            <a:off x="5806440" y="3767328"/>
            <a:ext cx="2606040" cy="658368"/>
          </a:xfrm>
          <a:prstGeom prst="rect">
            <a:avLst/>
          </a:prstGeom>
          <a:noFill/>
        </p:spPr>
        <p:txBody>
          <a:bodyPr wrap="square" lIns="0" tIns="0" rIns="0" bIns="0" anchor="ctr">
            <a:spAutoFit/>
          </a:bodyPr>
          <a:lstStyle/>
          <a:p>
            <a:pPr algn="l"/>
            <a:r>
              <a:rPr sz="1000" b="0" i="0">
                <a:solidFill>
                  <a:srgbClr val="2E1B5B"/>
                </a:solidFill>
                <a:latin typeface="Calibri"/>
              </a:rPr>
              <a:t>Gives a security lead a ranked, defensible answer to "what do we fix first?"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txBody>
          <a:bodyPr/>
          <a:lstStyle/>
          <a:p>
            <a:endParaRPr lang="en-IN"/>
          </a:p>
        </p:txBody>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txBody>
          <a:bodyPr/>
          <a:lstStyle/>
          <a:p>
            <a:endParaRPr lang="en-IN"/>
          </a:p>
        </p:txBody>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txBody>
          <a:bodyPr/>
          <a:lstStyle/>
          <a:p>
            <a:endParaRPr lang="en-IN"/>
          </a:p>
        </p:txBody>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txBody>
          <a:bodyPr/>
          <a:lstStyle/>
          <a:p>
            <a:endParaRPr lang="en-IN"/>
          </a:p>
        </p:txBody>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txBody>
          <a:bodyPr/>
          <a:lstStyle/>
          <a:p>
            <a:endParaRPr lang="en-IN"/>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sp>
        <p:nvSpPr>
          <p:cNvPr id="26" name="Text"/>
          <p:cNvSpPr txBox="1"/>
          <p:nvPr/>
        </p:nvSpPr>
        <p:spPr>
          <a:xfrm>
            <a:off x="685800" y="1865376"/>
            <a:ext cx="3657600" cy="215444"/>
          </a:xfrm>
          <a:prstGeom prst="rect">
            <a:avLst/>
          </a:prstGeom>
          <a:noFill/>
        </p:spPr>
        <p:txBody>
          <a:bodyPr wrap="square" lIns="0" tIns="0" rIns="0" bIns="0" anchor="t">
            <a:spAutoFit/>
          </a:bodyPr>
          <a:lstStyle/>
          <a:p>
            <a:pPr algn="l"/>
            <a:r>
              <a:rPr sz="1400" b="1" i="0" dirty="0">
                <a:solidFill>
                  <a:srgbClr val="5B3BA8"/>
                </a:solidFill>
                <a:latin typeface="Georgia"/>
              </a:rPr>
              <a:t>Honest limits, and how we handle them</a:t>
            </a:r>
          </a:p>
        </p:txBody>
      </p:sp>
      <p:sp>
        <p:nvSpPr>
          <p:cNvPr id="27" name="Limit row"/>
          <p:cNvSpPr/>
          <p:nvPr/>
        </p:nvSpPr>
        <p:spPr>
          <a:xfrm>
            <a:off x="685800" y="2212848"/>
            <a:ext cx="3703320" cy="475488"/>
          </a:xfrm>
          <a:prstGeom prst="roundRect">
            <a:avLst>
              <a:gd name="adj" fmla="val 2307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Icon bg FiHelpCircle"/>
          <p:cNvSpPr/>
          <p:nvPr/>
        </p:nvSpPr>
        <p:spPr>
          <a:xfrm>
            <a:off x="758952" y="2276856"/>
            <a:ext cx="347472" cy="347472"/>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Icon FiHelpCircle" descr="FiHelpCircle_w.png"/>
          <p:cNvPicPr>
            <a:picLocks noChangeAspect="1"/>
          </p:cNvPicPr>
          <p:nvPr/>
        </p:nvPicPr>
        <p:blipFill>
          <a:blip r:embed="rId3"/>
          <a:stretch>
            <a:fillRect/>
          </a:stretch>
        </p:blipFill>
        <p:spPr>
          <a:xfrm>
            <a:off x="835395" y="2353299"/>
            <a:ext cx="194584" cy="194584"/>
          </a:xfrm>
          <a:prstGeom prst="rect">
            <a:avLst/>
          </a:prstGeom>
        </p:spPr>
      </p:pic>
      <p:sp>
        <p:nvSpPr>
          <p:cNvPr id="30" name="Text"/>
          <p:cNvSpPr txBox="1"/>
          <p:nvPr/>
        </p:nvSpPr>
        <p:spPr>
          <a:xfrm>
            <a:off x="1216152" y="2369800"/>
            <a:ext cx="1737360" cy="161583"/>
          </a:xfrm>
          <a:prstGeom prst="rect">
            <a:avLst/>
          </a:prstGeom>
          <a:noFill/>
        </p:spPr>
        <p:txBody>
          <a:bodyPr wrap="square" lIns="0" tIns="0" rIns="0" bIns="0" anchor="ctr">
            <a:spAutoFit/>
          </a:bodyPr>
          <a:lstStyle/>
          <a:p>
            <a:pPr algn="l"/>
            <a:r>
              <a:rPr sz="1050" b="1" i="0" dirty="0">
                <a:solidFill>
                  <a:srgbClr val="2E1B5B"/>
                </a:solidFill>
                <a:latin typeface="Calibri"/>
              </a:rPr>
              <a:t>Nobody knows Z</a:t>
            </a:r>
          </a:p>
        </p:txBody>
      </p:sp>
      <p:sp>
        <p:nvSpPr>
          <p:cNvPr id="31" name="Text"/>
          <p:cNvSpPr txBox="1"/>
          <p:nvPr/>
        </p:nvSpPr>
        <p:spPr>
          <a:xfrm>
            <a:off x="2836926" y="2311332"/>
            <a:ext cx="1367028" cy="307777"/>
          </a:xfrm>
          <a:prstGeom prst="rect">
            <a:avLst/>
          </a:prstGeom>
          <a:noFill/>
        </p:spPr>
        <p:txBody>
          <a:bodyPr wrap="square" lIns="0" tIns="0" rIns="0" bIns="0" anchor="ctr">
            <a:spAutoFit/>
          </a:bodyPr>
          <a:lstStyle/>
          <a:p>
            <a:pPr algn="ctr"/>
            <a:r>
              <a:rPr sz="1000" b="0" i="0" dirty="0">
                <a:solidFill>
                  <a:schemeClr val="accent2"/>
                </a:solidFill>
                <a:latin typeface="Calibri"/>
              </a:rPr>
              <a:t>→ </a:t>
            </a:r>
            <a:r>
              <a:rPr lang="en-US" sz="1000" b="0" i="0" dirty="0">
                <a:solidFill>
                  <a:schemeClr val="accent2"/>
                </a:solidFill>
                <a:latin typeface="Calibri"/>
              </a:rPr>
              <a:t>M</a:t>
            </a:r>
            <a:r>
              <a:rPr sz="1000" b="0" i="0" dirty="0">
                <a:solidFill>
                  <a:schemeClr val="accent2"/>
                </a:solidFill>
                <a:latin typeface="Calibri"/>
              </a:rPr>
              <a:t>ade it a slider (5–40 y</a:t>
            </a:r>
            <a:r>
              <a:rPr lang="en-US" sz="1000" b="0" i="0" dirty="0">
                <a:solidFill>
                  <a:schemeClr val="accent2"/>
                </a:solidFill>
                <a:latin typeface="Calibri"/>
              </a:rPr>
              <a:t>ea</a:t>
            </a:r>
            <a:r>
              <a:rPr sz="1000" b="0" i="0" dirty="0">
                <a:solidFill>
                  <a:schemeClr val="accent2"/>
                </a:solidFill>
                <a:latin typeface="Calibri"/>
              </a:rPr>
              <a:t>rs)</a:t>
            </a:r>
          </a:p>
        </p:txBody>
      </p:sp>
      <p:sp>
        <p:nvSpPr>
          <p:cNvPr id="32" name="Limit row"/>
          <p:cNvSpPr/>
          <p:nvPr/>
        </p:nvSpPr>
        <p:spPr>
          <a:xfrm>
            <a:off x="685800" y="2761488"/>
            <a:ext cx="3703320" cy="475488"/>
          </a:xfrm>
          <a:prstGeom prst="roundRect">
            <a:avLst>
              <a:gd name="adj" fmla="val 2307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Icon bg FiSliders"/>
          <p:cNvSpPr/>
          <p:nvPr/>
        </p:nvSpPr>
        <p:spPr>
          <a:xfrm>
            <a:off x="758952" y="2825496"/>
            <a:ext cx="347472" cy="347472"/>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Icon FiSliders" descr="FiSliders_w.png"/>
          <p:cNvPicPr>
            <a:picLocks noChangeAspect="1"/>
          </p:cNvPicPr>
          <p:nvPr/>
        </p:nvPicPr>
        <p:blipFill>
          <a:blip r:embed="rId4"/>
          <a:stretch>
            <a:fillRect/>
          </a:stretch>
        </p:blipFill>
        <p:spPr>
          <a:xfrm>
            <a:off x="835395" y="2901939"/>
            <a:ext cx="194584" cy="194584"/>
          </a:xfrm>
          <a:prstGeom prst="rect">
            <a:avLst/>
          </a:prstGeom>
        </p:spPr>
      </p:pic>
      <p:sp>
        <p:nvSpPr>
          <p:cNvPr id="35" name="Text"/>
          <p:cNvSpPr txBox="1"/>
          <p:nvPr/>
        </p:nvSpPr>
        <p:spPr>
          <a:xfrm>
            <a:off x="1216152" y="2918440"/>
            <a:ext cx="1737360" cy="161583"/>
          </a:xfrm>
          <a:prstGeom prst="rect">
            <a:avLst/>
          </a:prstGeom>
          <a:noFill/>
        </p:spPr>
        <p:txBody>
          <a:bodyPr wrap="square" lIns="0" tIns="0" rIns="0" bIns="0" anchor="ctr">
            <a:spAutoFit/>
          </a:bodyPr>
          <a:lstStyle/>
          <a:p>
            <a:pPr algn="l"/>
            <a:r>
              <a:rPr sz="1050" b="1" i="0" dirty="0">
                <a:solidFill>
                  <a:srgbClr val="2E1B5B"/>
                </a:solidFill>
                <a:latin typeface="Calibri"/>
              </a:rPr>
              <a:t>Score weights are judgement</a:t>
            </a:r>
          </a:p>
        </p:txBody>
      </p:sp>
      <p:sp>
        <p:nvSpPr>
          <p:cNvPr id="36" name="Text"/>
          <p:cNvSpPr txBox="1"/>
          <p:nvPr/>
        </p:nvSpPr>
        <p:spPr>
          <a:xfrm>
            <a:off x="2903220" y="2933124"/>
            <a:ext cx="1417320" cy="153888"/>
          </a:xfrm>
          <a:prstGeom prst="rect">
            <a:avLst/>
          </a:prstGeom>
          <a:noFill/>
        </p:spPr>
        <p:txBody>
          <a:bodyPr wrap="square" lIns="0" tIns="0" rIns="0" bIns="0" anchor="ctr">
            <a:spAutoFit/>
          </a:bodyPr>
          <a:lstStyle/>
          <a:p>
            <a:pPr algn="l"/>
            <a:r>
              <a:rPr sz="1000" b="0" i="0" dirty="0">
                <a:solidFill>
                  <a:schemeClr val="accent2"/>
                </a:solidFill>
                <a:latin typeface="Calibri"/>
              </a:rPr>
              <a:t>→ </a:t>
            </a:r>
            <a:r>
              <a:rPr lang="en-US" sz="1000" b="0" i="0" dirty="0">
                <a:solidFill>
                  <a:schemeClr val="accent2"/>
                </a:solidFill>
                <a:latin typeface="Calibri"/>
              </a:rPr>
              <a:t>E</a:t>
            </a:r>
            <a:r>
              <a:rPr sz="1000" b="0" i="0" dirty="0">
                <a:solidFill>
                  <a:schemeClr val="accent2"/>
                </a:solidFill>
                <a:latin typeface="Calibri"/>
              </a:rPr>
              <a:t>xposed and </a:t>
            </a:r>
            <a:r>
              <a:rPr lang="en-US" sz="1000" b="0" i="0" dirty="0">
                <a:solidFill>
                  <a:schemeClr val="accent2"/>
                </a:solidFill>
                <a:latin typeface="Calibri"/>
              </a:rPr>
              <a:t>E</a:t>
            </a:r>
            <a:r>
              <a:rPr sz="1000" b="0" i="0" dirty="0">
                <a:solidFill>
                  <a:schemeClr val="accent2"/>
                </a:solidFill>
                <a:latin typeface="Calibri"/>
              </a:rPr>
              <a:t>ditable</a:t>
            </a:r>
          </a:p>
        </p:txBody>
      </p:sp>
      <p:sp>
        <p:nvSpPr>
          <p:cNvPr id="37" name="Limit row"/>
          <p:cNvSpPr/>
          <p:nvPr/>
        </p:nvSpPr>
        <p:spPr>
          <a:xfrm>
            <a:off x="685800" y="3310128"/>
            <a:ext cx="3703320" cy="475488"/>
          </a:xfrm>
          <a:prstGeom prst="roundRect">
            <a:avLst>
              <a:gd name="adj" fmla="val 2307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Icon bg FiCpu"/>
          <p:cNvSpPr/>
          <p:nvPr/>
        </p:nvSpPr>
        <p:spPr>
          <a:xfrm>
            <a:off x="758952" y="3374136"/>
            <a:ext cx="347472" cy="347472"/>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Icon FiCpu" descr="FiCpu_w.png"/>
          <p:cNvPicPr>
            <a:picLocks noChangeAspect="1"/>
          </p:cNvPicPr>
          <p:nvPr/>
        </p:nvPicPr>
        <p:blipFill>
          <a:blip r:embed="rId5"/>
          <a:stretch>
            <a:fillRect/>
          </a:stretch>
        </p:blipFill>
        <p:spPr>
          <a:xfrm>
            <a:off x="835395" y="3450579"/>
            <a:ext cx="194584" cy="194584"/>
          </a:xfrm>
          <a:prstGeom prst="rect">
            <a:avLst/>
          </a:prstGeom>
        </p:spPr>
      </p:pic>
      <p:sp>
        <p:nvSpPr>
          <p:cNvPr id="40" name="Text"/>
          <p:cNvSpPr txBox="1"/>
          <p:nvPr/>
        </p:nvSpPr>
        <p:spPr>
          <a:xfrm>
            <a:off x="1216152" y="3467080"/>
            <a:ext cx="1737360" cy="161583"/>
          </a:xfrm>
          <a:prstGeom prst="rect">
            <a:avLst/>
          </a:prstGeom>
          <a:noFill/>
        </p:spPr>
        <p:txBody>
          <a:bodyPr wrap="square" lIns="0" tIns="0" rIns="0" bIns="0" anchor="ctr">
            <a:spAutoFit/>
          </a:bodyPr>
          <a:lstStyle/>
          <a:p>
            <a:pPr algn="l"/>
            <a:r>
              <a:rPr sz="1050" b="1" i="0" dirty="0">
                <a:solidFill>
                  <a:srgbClr val="2E1B5B"/>
                </a:solidFill>
                <a:latin typeface="Calibri"/>
              </a:rPr>
              <a:t>Simulated channel only</a:t>
            </a:r>
          </a:p>
        </p:txBody>
      </p:sp>
      <p:sp>
        <p:nvSpPr>
          <p:cNvPr id="41" name="Text"/>
          <p:cNvSpPr txBox="1"/>
          <p:nvPr/>
        </p:nvSpPr>
        <p:spPr>
          <a:xfrm>
            <a:off x="2775204" y="3401678"/>
            <a:ext cx="1417320" cy="307777"/>
          </a:xfrm>
          <a:prstGeom prst="rect">
            <a:avLst/>
          </a:prstGeom>
          <a:noFill/>
        </p:spPr>
        <p:txBody>
          <a:bodyPr wrap="square" lIns="0" tIns="0" rIns="0" bIns="0" anchor="ctr">
            <a:spAutoFit/>
          </a:bodyPr>
          <a:lstStyle/>
          <a:p>
            <a:pPr algn="ctr"/>
            <a:r>
              <a:rPr sz="1000" b="0" i="0" dirty="0">
                <a:solidFill>
                  <a:schemeClr val="accent2"/>
                </a:solidFill>
                <a:latin typeface="Calibri"/>
              </a:rPr>
              <a:t>→ </a:t>
            </a:r>
            <a:r>
              <a:rPr lang="en-US" sz="1000" b="0" i="0" dirty="0">
                <a:solidFill>
                  <a:schemeClr val="accent2"/>
                </a:solidFill>
                <a:latin typeface="Calibri"/>
              </a:rPr>
              <a:t>L</a:t>
            </a:r>
            <a:r>
              <a:rPr sz="1000" b="0" i="0" dirty="0">
                <a:solidFill>
                  <a:schemeClr val="accent2"/>
                </a:solidFill>
                <a:latin typeface="Calibri"/>
              </a:rPr>
              <a:t>imits reported, </a:t>
            </a:r>
            <a:r>
              <a:rPr lang="en-US" sz="1000" b="0" i="0" dirty="0">
                <a:solidFill>
                  <a:schemeClr val="accent2"/>
                </a:solidFill>
                <a:latin typeface="Calibri"/>
              </a:rPr>
              <a:t>n</a:t>
            </a:r>
            <a:r>
              <a:rPr sz="1000" b="0" i="0" dirty="0">
                <a:solidFill>
                  <a:schemeClr val="accent2"/>
                </a:solidFill>
                <a:latin typeface="Calibri"/>
              </a:rPr>
              <a:t>ot hidden</a:t>
            </a:r>
          </a:p>
        </p:txBody>
      </p:sp>
      <p:sp>
        <p:nvSpPr>
          <p:cNvPr id="42" name="Limit row"/>
          <p:cNvSpPr/>
          <p:nvPr/>
        </p:nvSpPr>
        <p:spPr>
          <a:xfrm>
            <a:off x="685800" y="3858768"/>
            <a:ext cx="3703320" cy="475488"/>
          </a:xfrm>
          <a:prstGeom prst="roundRect">
            <a:avLst>
              <a:gd name="adj" fmla="val 23076"/>
            </a:avLst>
          </a:prstGeom>
          <a:solidFill>
            <a:srgbClr val="EE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Icon bg FiSearch"/>
          <p:cNvSpPr/>
          <p:nvPr/>
        </p:nvSpPr>
        <p:spPr>
          <a:xfrm>
            <a:off x="758952" y="3922776"/>
            <a:ext cx="347472" cy="347472"/>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Icon FiSearch" descr="FiSearch_w.png"/>
          <p:cNvPicPr>
            <a:picLocks noChangeAspect="1"/>
          </p:cNvPicPr>
          <p:nvPr/>
        </p:nvPicPr>
        <p:blipFill>
          <a:blip r:embed="rId6"/>
          <a:stretch>
            <a:fillRect/>
          </a:stretch>
        </p:blipFill>
        <p:spPr>
          <a:xfrm>
            <a:off x="835395" y="3999219"/>
            <a:ext cx="194584" cy="194584"/>
          </a:xfrm>
          <a:prstGeom prst="rect">
            <a:avLst/>
          </a:prstGeom>
        </p:spPr>
      </p:pic>
      <p:sp>
        <p:nvSpPr>
          <p:cNvPr id="45" name="Text"/>
          <p:cNvSpPr txBox="1"/>
          <p:nvPr/>
        </p:nvSpPr>
        <p:spPr>
          <a:xfrm>
            <a:off x="1216152" y="4015720"/>
            <a:ext cx="1737360" cy="161583"/>
          </a:xfrm>
          <a:prstGeom prst="rect">
            <a:avLst/>
          </a:prstGeom>
          <a:noFill/>
        </p:spPr>
        <p:txBody>
          <a:bodyPr wrap="square" lIns="0" tIns="0" rIns="0" bIns="0" anchor="ctr">
            <a:spAutoFit/>
          </a:bodyPr>
          <a:lstStyle/>
          <a:p>
            <a:pPr algn="l"/>
            <a:r>
              <a:rPr sz="1050" b="1" i="0" dirty="0">
                <a:solidFill>
                  <a:srgbClr val="2E1B5B"/>
                </a:solidFill>
                <a:latin typeface="Calibri"/>
              </a:rPr>
              <a:t>Vendors hide their crypto</a:t>
            </a:r>
          </a:p>
        </p:txBody>
      </p:sp>
      <p:sp>
        <p:nvSpPr>
          <p:cNvPr id="46" name="Text"/>
          <p:cNvSpPr txBox="1"/>
          <p:nvPr/>
        </p:nvSpPr>
        <p:spPr>
          <a:xfrm>
            <a:off x="2836926" y="3950318"/>
            <a:ext cx="1483614" cy="307777"/>
          </a:xfrm>
          <a:prstGeom prst="rect">
            <a:avLst/>
          </a:prstGeom>
          <a:noFill/>
        </p:spPr>
        <p:txBody>
          <a:bodyPr wrap="square" lIns="0" tIns="0" rIns="0" bIns="0" anchor="ctr">
            <a:spAutoFit/>
          </a:bodyPr>
          <a:lstStyle/>
          <a:p>
            <a:pPr algn="ctr"/>
            <a:r>
              <a:rPr sz="900" b="0" i="0" dirty="0">
                <a:solidFill>
                  <a:schemeClr val="accent2"/>
                </a:solidFill>
                <a:latin typeface="Calibri"/>
              </a:rPr>
              <a:t>→ </a:t>
            </a:r>
            <a:r>
              <a:rPr lang="en-US" sz="1000" b="0" i="0" dirty="0">
                <a:solidFill>
                  <a:schemeClr val="accent2"/>
                </a:solidFill>
                <a:latin typeface="Calibri"/>
              </a:rPr>
              <a:t>F</a:t>
            </a:r>
            <a:r>
              <a:rPr sz="1000" b="0" i="0" dirty="0">
                <a:solidFill>
                  <a:schemeClr val="accent2"/>
                </a:solidFill>
                <a:latin typeface="Calibri"/>
              </a:rPr>
              <a:t>lagged, never assumed safe</a:t>
            </a:r>
          </a:p>
        </p:txBody>
      </p:sp>
      <p:sp>
        <p:nvSpPr>
          <p:cNvPr id="47" name="Text"/>
          <p:cNvSpPr txBox="1"/>
          <p:nvPr/>
        </p:nvSpPr>
        <p:spPr>
          <a:xfrm>
            <a:off x="4754880" y="1865376"/>
            <a:ext cx="3657600" cy="215444"/>
          </a:xfrm>
          <a:prstGeom prst="rect">
            <a:avLst/>
          </a:prstGeom>
          <a:noFill/>
        </p:spPr>
        <p:txBody>
          <a:bodyPr wrap="square" lIns="0" tIns="0" rIns="0" bIns="0" anchor="t">
            <a:spAutoFit/>
          </a:bodyPr>
          <a:lstStyle/>
          <a:p>
            <a:pPr algn="l"/>
            <a:r>
              <a:rPr sz="1400" b="1" i="0" dirty="0">
                <a:solidFill>
                  <a:srgbClr val="5B3BA8"/>
                </a:solidFill>
                <a:latin typeface="Georgia"/>
              </a:rPr>
              <a:t>What we'd build next</a:t>
            </a:r>
          </a:p>
        </p:txBody>
      </p:sp>
      <p:sp>
        <p:nvSpPr>
          <p:cNvPr id="48" name="Timeline spine"/>
          <p:cNvSpPr/>
          <p:nvPr/>
        </p:nvSpPr>
        <p:spPr>
          <a:xfrm>
            <a:off x="4956048" y="2377440"/>
            <a:ext cx="36576" cy="1828800"/>
          </a:xfrm>
          <a:prstGeom prst="rect">
            <a:avLst/>
          </a:prstGeom>
          <a:solidFill>
            <a:srgbClr val="B8BD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Step dot"/>
          <p:cNvSpPr/>
          <p:nvPr/>
        </p:nvSpPr>
        <p:spPr>
          <a:xfrm>
            <a:off x="4800600" y="2276856"/>
            <a:ext cx="347472" cy="347472"/>
          </a:xfrm>
          <a:prstGeom prst="ellipse">
            <a:avLst/>
          </a:prstGeom>
          <a:solidFill>
            <a:srgbClr val="7C9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
          <p:cNvSpPr txBox="1"/>
          <p:nvPr/>
        </p:nvSpPr>
        <p:spPr>
          <a:xfrm>
            <a:off x="4800600" y="2276856"/>
            <a:ext cx="347472" cy="347472"/>
          </a:xfrm>
          <a:prstGeom prst="rect">
            <a:avLst/>
          </a:prstGeom>
          <a:noFill/>
        </p:spPr>
        <p:txBody>
          <a:bodyPr wrap="square" lIns="0" tIns="0" rIns="0" bIns="0" anchor="ctr">
            <a:spAutoFit/>
          </a:bodyPr>
          <a:lstStyle/>
          <a:p>
            <a:pPr algn="ctr"/>
            <a:r>
              <a:rPr sz="1000" b="1" i="0">
                <a:solidFill>
                  <a:srgbClr val="FFFFFF"/>
                </a:solidFill>
                <a:latin typeface="Calibri"/>
              </a:rPr>
              <a:t>1</a:t>
            </a:r>
          </a:p>
        </p:txBody>
      </p:sp>
      <p:sp>
        <p:nvSpPr>
          <p:cNvPr id="51" name="Text"/>
          <p:cNvSpPr txBox="1"/>
          <p:nvPr/>
        </p:nvSpPr>
        <p:spPr>
          <a:xfrm>
            <a:off x="5303520" y="2273622"/>
            <a:ext cx="3154680" cy="353943"/>
          </a:xfrm>
          <a:prstGeom prst="rect">
            <a:avLst/>
          </a:prstGeom>
          <a:noFill/>
        </p:spPr>
        <p:txBody>
          <a:bodyPr wrap="square" lIns="0" tIns="0" rIns="0" bIns="0" anchor="ctr">
            <a:spAutoFit/>
          </a:bodyPr>
          <a:lstStyle/>
          <a:p>
            <a:pPr algn="l"/>
            <a:r>
              <a:rPr sz="1200" b="1" i="0" dirty="0">
                <a:solidFill>
                  <a:srgbClr val="2E1B5B"/>
                </a:solidFill>
                <a:latin typeface="Calibri"/>
              </a:rPr>
              <a:t>Auto-discovery</a:t>
            </a:r>
          </a:p>
          <a:p>
            <a:pPr algn="l"/>
            <a:r>
              <a:rPr lang="en-US" sz="1100" b="0" i="0" dirty="0">
                <a:solidFill>
                  <a:srgbClr val="6F7399"/>
                </a:solidFill>
                <a:latin typeface="Calibri"/>
              </a:rPr>
              <a:t>S</a:t>
            </a:r>
            <a:r>
              <a:rPr sz="1100" b="0" i="0" dirty="0">
                <a:solidFill>
                  <a:srgbClr val="6F7399"/>
                </a:solidFill>
                <a:latin typeface="Calibri"/>
              </a:rPr>
              <a:t>can TLS endpoints &amp; certificates</a:t>
            </a:r>
          </a:p>
        </p:txBody>
      </p:sp>
      <p:sp>
        <p:nvSpPr>
          <p:cNvPr id="52" name="Step dot"/>
          <p:cNvSpPr/>
          <p:nvPr/>
        </p:nvSpPr>
        <p:spPr>
          <a:xfrm>
            <a:off x="4800600" y="2825496"/>
            <a:ext cx="347472" cy="347472"/>
          </a:xfrm>
          <a:prstGeom prst="ellipse">
            <a:avLst/>
          </a:prstGeom>
          <a:solidFill>
            <a:srgbClr val="5B3B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
          <p:cNvSpPr txBox="1"/>
          <p:nvPr/>
        </p:nvSpPr>
        <p:spPr>
          <a:xfrm>
            <a:off x="4800600" y="2825496"/>
            <a:ext cx="347472" cy="347472"/>
          </a:xfrm>
          <a:prstGeom prst="rect">
            <a:avLst/>
          </a:prstGeom>
          <a:noFill/>
        </p:spPr>
        <p:txBody>
          <a:bodyPr wrap="square" lIns="0" tIns="0" rIns="0" bIns="0" anchor="ctr">
            <a:spAutoFit/>
          </a:bodyPr>
          <a:lstStyle/>
          <a:p>
            <a:pPr algn="ctr"/>
            <a:r>
              <a:rPr sz="1000" b="1" i="0">
                <a:solidFill>
                  <a:srgbClr val="FFFFFF"/>
                </a:solidFill>
                <a:latin typeface="Calibri"/>
              </a:rPr>
              <a:t>2</a:t>
            </a:r>
          </a:p>
        </p:txBody>
      </p:sp>
      <p:sp>
        <p:nvSpPr>
          <p:cNvPr id="54" name="Text"/>
          <p:cNvSpPr txBox="1"/>
          <p:nvPr/>
        </p:nvSpPr>
        <p:spPr>
          <a:xfrm>
            <a:off x="5303520" y="2822261"/>
            <a:ext cx="3154680" cy="353943"/>
          </a:xfrm>
          <a:prstGeom prst="rect">
            <a:avLst/>
          </a:prstGeom>
          <a:noFill/>
          <a:ln>
            <a:solidFill>
              <a:schemeClr val="bg1"/>
            </a:solidFill>
          </a:ln>
        </p:spPr>
        <p:txBody>
          <a:bodyPr wrap="square" lIns="0" tIns="0" rIns="0" bIns="0" anchor="ctr">
            <a:spAutoFit/>
          </a:bodyPr>
          <a:lstStyle/>
          <a:p>
            <a:pPr algn="l"/>
            <a:r>
              <a:rPr sz="1200" b="1" i="0" dirty="0">
                <a:solidFill>
                  <a:srgbClr val="2E1B5B"/>
                </a:solidFill>
                <a:latin typeface="Calibri"/>
              </a:rPr>
              <a:t>Real hardware</a:t>
            </a:r>
          </a:p>
          <a:p>
            <a:pPr algn="l"/>
            <a:r>
              <a:rPr sz="1100" b="0" i="0" dirty="0">
                <a:solidFill>
                  <a:srgbClr val="6F7399"/>
                </a:solidFill>
                <a:latin typeface="Calibri"/>
              </a:rPr>
              <a:t>BB84 on IBM Quantum via </a:t>
            </a:r>
            <a:r>
              <a:rPr sz="1100" b="0" i="0" dirty="0" err="1">
                <a:solidFill>
                  <a:srgbClr val="6F7399"/>
                </a:solidFill>
                <a:latin typeface="Calibri"/>
              </a:rPr>
              <a:t>Qiskit</a:t>
            </a:r>
            <a:r>
              <a:rPr sz="1100" b="0" i="0" dirty="0">
                <a:solidFill>
                  <a:srgbClr val="6F7399"/>
                </a:solidFill>
                <a:latin typeface="Calibri"/>
              </a:rPr>
              <a:t> Runtime</a:t>
            </a:r>
          </a:p>
        </p:txBody>
      </p:sp>
      <p:sp>
        <p:nvSpPr>
          <p:cNvPr id="55" name="Step dot"/>
          <p:cNvSpPr/>
          <p:nvPr/>
        </p:nvSpPr>
        <p:spPr>
          <a:xfrm>
            <a:off x="4800600" y="3374136"/>
            <a:ext cx="347472" cy="347472"/>
          </a:xfrm>
          <a:prstGeom prst="ellipse">
            <a:avLst/>
          </a:prstGeom>
          <a:solidFill>
            <a:srgbClr val="E863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
          <p:cNvSpPr txBox="1"/>
          <p:nvPr/>
        </p:nvSpPr>
        <p:spPr>
          <a:xfrm>
            <a:off x="4800600" y="3374136"/>
            <a:ext cx="347472" cy="347472"/>
          </a:xfrm>
          <a:prstGeom prst="rect">
            <a:avLst/>
          </a:prstGeom>
          <a:noFill/>
        </p:spPr>
        <p:txBody>
          <a:bodyPr wrap="square" lIns="0" tIns="0" rIns="0" bIns="0" anchor="ctr">
            <a:spAutoFit/>
          </a:bodyPr>
          <a:lstStyle/>
          <a:p>
            <a:pPr algn="ctr"/>
            <a:r>
              <a:rPr sz="1000" b="1" i="0">
                <a:solidFill>
                  <a:srgbClr val="FFFFFF"/>
                </a:solidFill>
                <a:latin typeface="Calibri"/>
              </a:rPr>
              <a:t>3</a:t>
            </a:r>
          </a:p>
        </p:txBody>
      </p:sp>
      <p:sp>
        <p:nvSpPr>
          <p:cNvPr id="57" name="Text"/>
          <p:cNvSpPr txBox="1"/>
          <p:nvPr/>
        </p:nvSpPr>
        <p:spPr>
          <a:xfrm>
            <a:off x="5303520" y="3370902"/>
            <a:ext cx="3154680" cy="353943"/>
          </a:xfrm>
          <a:prstGeom prst="rect">
            <a:avLst/>
          </a:prstGeom>
          <a:noFill/>
        </p:spPr>
        <p:txBody>
          <a:bodyPr wrap="square" lIns="0" tIns="0" rIns="0" bIns="0" anchor="ctr">
            <a:spAutoFit/>
          </a:bodyPr>
          <a:lstStyle/>
          <a:p>
            <a:pPr algn="l"/>
            <a:r>
              <a:rPr sz="1200" b="1" i="0" dirty="0">
                <a:solidFill>
                  <a:srgbClr val="2E1B5B"/>
                </a:solidFill>
                <a:latin typeface="Calibri"/>
              </a:rPr>
              <a:t>Stronger proofs</a:t>
            </a:r>
          </a:p>
          <a:p>
            <a:pPr algn="l"/>
            <a:r>
              <a:rPr lang="en-US" sz="1100" dirty="0">
                <a:solidFill>
                  <a:srgbClr val="6F7399"/>
                </a:solidFill>
                <a:latin typeface="Calibri"/>
              </a:rPr>
              <a:t>F</a:t>
            </a:r>
            <a:r>
              <a:rPr sz="1100" b="0" i="0" dirty="0">
                <a:solidFill>
                  <a:srgbClr val="6F7399"/>
                </a:solidFill>
                <a:latin typeface="Calibri"/>
              </a:rPr>
              <a:t>inite-key &amp; decoy-state analysis</a:t>
            </a:r>
          </a:p>
        </p:txBody>
      </p:sp>
      <p:sp>
        <p:nvSpPr>
          <p:cNvPr id="58" name="Step dot"/>
          <p:cNvSpPr/>
          <p:nvPr/>
        </p:nvSpPr>
        <p:spPr>
          <a:xfrm>
            <a:off x="4800600" y="3922776"/>
            <a:ext cx="347472" cy="347472"/>
          </a:xfrm>
          <a:prstGeom prst="ellipse">
            <a:avLst/>
          </a:prstGeom>
          <a:solidFill>
            <a:srgbClr val="2E1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
          <p:cNvSpPr txBox="1"/>
          <p:nvPr/>
        </p:nvSpPr>
        <p:spPr>
          <a:xfrm>
            <a:off x="4800600" y="3922776"/>
            <a:ext cx="347472" cy="347472"/>
          </a:xfrm>
          <a:prstGeom prst="rect">
            <a:avLst/>
          </a:prstGeom>
          <a:noFill/>
        </p:spPr>
        <p:txBody>
          <a:bodyPr wrap="square" lIns="0" tIns="0" rIns="0" bIns="0" anchor="ctr">
            <a:spAutoFit/>
          </a:bodyPr>
          <a:lstStyle/>
          <a:p>
            <a:pPr algn="ctr"/>
            <a:r>
              <a:rPr sz="1000" b="1" i="0">
                <a:solidFill>
                  <a:srgbClr val="FFFFFF"/>
                </a:solidFill>
                <a:latin typeface="Calibri"/>
              </a:rPr>
              <a:t>4</a:t>
            </a:r>
          </a:p>
        </p:txBody>
      </p:sp>
      <p:sp>
        <p:nvSpPr>
          <p:cNvPr id="60" name="Text"/>
          <p:cNvSpPr txBox="1"/>
          <p:nvPr/>
        </p:nvSpPr>
        <p:spPr>
          <a:xfrm>
            <a:off x="5303520" y="3919542"/>
            <a:ext cx="3154680" cy="353943"/>
          </a:xfrm>
          <a:prstGeom prst="rect">
            <a:avLst/>
          </a:prstGeom>
          <a:noFill/>
        </p:spPr>
        <p:txBody>
          <a:bodyPr wrap="square" lIns="0" tIns="0" rIns="0" bIns="0" anchor="ctr">
            <a:spAutoFit/>
          </a:bodyPr>
          <a:lstStyle/>
          <a:p>
            <a:pPr algn="l"/>
            <a:r>
              <a:rPr sz="1200" b="1" i="0" dirty="0">
                <a:solidFill>
                  <a:srgbClr val="2E1B5B"/>
                </a:solidFill>
                <a:latin typeface="Calibri"/>
              </a:rPr>
              <a:t>Standard input</a:t>
            </a:r>
          </a:p>
          <a:p>
            <a:pPr algn="l"/>
            <a:r>
              <a:rPr lang="en-US" sz="1100" dirty="0">
                <a:solidFill>
                  <a:srgbClr val="6F7399"/>
                </a:solidFill>
                <a:latin typeface="Calibri"/>
              </a:rPr>
              <a:t>I</a:t>
            </a:r>
            <a:r>
              <a:rPr sz="1100" b="0" i="0" dirty="0">
                <a:solidFill>
                  <a:srgbClr val="6F7399"/>
                </a:solidFill>
                <a:latin typeface="Calibri"/>
              </a:rPr>
              <a:t>mport </a:t>
            </a:r>
            <a:r>
              <a:rPr sz="1100" b="0" i="0" dirty="0" err="1">
                <a:solidFill>
                  <a:srgbClr val="6F7399"/>
                </a:solidFill>
                <a:latin typeface="Calibri"/>
              </a:rPr>
              <a:t>CycloneDX</a:t>
            </a:r>
            <a:r>
              <a:rPr sz="1100" b="0" i="0" dirty="0">
                <a:solidFill>
                  <a:srgbClr val="6F7399"/>
                </a:solidFill>
                <a:latin typeface="Calibri"/>
              </a:rPr>
              <a:t> crypto BOMs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7200" y="3204242"/>
            <a:ext cx="2286000" cy="636238"/>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1200" b="1" kern="0" spc="100" dirty="0">
                <a:solidFill>
                  <a:srgbClr val="5B3BA8"/>
                </a:solidFill>
                <a:latin typeface="Calibri" pitchFamily="34" charset="0"/>
                <a:ea typeface="Calibri" pitchFamily="34" charset="-122"/>
                <a:cs typeface="Calibri" pitchFamily="34" charset="-120"/>
              </a:rPr>
              <a:t>GITHUB REPOSITORY</a:t>
            </a:r>
          </a:p>
          <a:p>
            <a:r>
              <a:rPr lang="en-US" sz="1000" dirty="0">
                <a:hlinkClick r:id="rId3"/>
              </a:rPr>
              <a:t>https://github.com/vtu-qiskit-fall-fest-2026/vtu-hc-hackerslobby</a:t>
            </a:r>
            <a:endParaRPr lang="en-US" sz="1000" dirty="0"/>
          </a:p>
        </p:txBody>
      </p:sp>
      <p:sp>
        <p:nvSpPr>
          <p:cNvPr id="6" name="Field: DEMO VIDEO LINK"/>
          <p:cNvSpPr/>
          <p:nvPr/>
        </p:nvSpPr>
        <p:spPr>
          <a:xfrm>
            <a:off x="2834640" y="3204242"/>
            <a:ext cx="2286000" cy="636238"/>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1200" b="1" kern="0" spc="100" dirty="0">
                <a:solidFill>
                  <a:srgbClr val="5B3BA8"/>
                </a:solidFill>
                <a:latin typeface="Calibri" pitchFamily="34" charset="0"/>
                <a:ea typeface="Calibri" pitchFamily="34" charset="-122"/>
                <a:cs typeface="Calibri" pitchFamily="34" charset="-120"/>
              </a:rPr>
              <a:t>LIVE DEMO</a:t>
            </a:r>
          </a:p>
          <a:p>
            <a:r>
              <a:rPr lang="en-US" sz="1000" dirty="0">
                <a:hlinkClick r:id="rId4"/>
              </a:rPr>
              <a:t>https://quantvault-n8cp.onrender.com/</a:t>
            </a:r>
            <a:endParaRPr lang="en-US" sz="1000" dirty="0"/>
          </a:p>
        </p:txBody>
      </p:sp>
      <p:pic>
        <p:nvPicPr>
          <p:cNvPr id="7" name="Bloch sphere ring" descr="sphere.png"/>
          <p:cNvPicPr>
            <a:picLocks noChangeAspect="1"/>
          </p:cNvPicPr>
          <p:nvPr/>
        </p:nvPicPr>
        <p:blipFill>
          <a:blip r:embed="rId5"/>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6"/>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7"/>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8"/>
          <a:stretch>
            <a:fillRect/>
          </a:stretch>
        </p:blipFill>
        <p:spPr>
          <a:xfrm>
            <a:off x="8229600" y="4023360"/>
            <a:ext cx="457200" cy="274320"/>
          </a:xfrm>
          <a:prstGeom prst="rect">
            <a:avLst/>
          </a:prstGeom>
        </p:spPr>
      </p:pic>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1561</Words>
  <Application>Microsoft Office PowerPoint</Application>
  <PresentationFormat>On-screen Show (16:9)</PresentationFormat>
  <Paragraphs>205</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Courier New</vt:lpstr>
      <vt:lpstr>Georgia</vt:lpstr>
      <vt:lpstr>Nirmala UI</vt:lpstr>
      <vt:lpstr>Qiskit Fall Fest</vt:lpstr>
      <vt:lpstr>PowerPoint Presentation</vt:lpstr>
      <vt:lpstr>Problem Statement</vt:lpstr>
      <vt:lpstr>Objectives &amp; Novelty</vt:lpstr>
      <vt:lpstr>Solution &amp; Quantum Advantage</vt:lpstr>
      <vt:lpstr>Algorithm &amp; Circuit Design</vt:lpstr>
      <vt:lpstr>Implementation &amp; Tech Stack</vt:lpstr>
      <vt:lpstr>Results &amp; Analysis</vt:lpstr>
      <vt:lpstr>Impact &amp; Real-World Applications</vt:lpstr>
      <vt:lpstr>Challenges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SAHINUR RAHMAN</cp:lastModifiedBy>
  <cp:revision>2</cp:revision>
  <dcterms:modified xsi:type="dcterms:W3CDTF">2026-10-23T09:13:28Z</dcterms:modified>
</cp:coreProperties>
</file>